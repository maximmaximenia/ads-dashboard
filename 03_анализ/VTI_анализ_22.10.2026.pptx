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900" b="1">
                <a:solidFill>
                  <a:srgbClr val="17181A"/>
                </a:solidFill>
                <a:latin typeface="Arial"/>
              </a:rPr>
              <a:t>Клики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Клики</c:v>
                </c:pt>
              </c:strCache>
            </c:strRef>
          </c:tx>
          <c:spPr>
            <a:ln w="22860">
              <a:solidFill>
                <a:srgbClr val="D0130D"/>
              </a:solidFill>
            </a:ln>
          </c:spPr>
          <c:marker>
            <c:symbol val="circle"/>
            <c:size val="4"/>
            <c:spPr>
              <a:solidFill>
                <a:srgbClr val="D0130D"/>
              </a:solidFill>
              <a:ln>
                <a:solidFill>
                  <a:srgbClr val="D0130D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12.10</c:v>
                </c:pt>
                <c:pt idx="1">
                  <c:v>13.10</c:v>
                </c:pt>
                <c:pt idx="2">
                  <c:v>14.10</c:v>
                </c:pt>
                <c:pt idx="3">
                  <c:v>15.10</c:v>
                </c:pt>
                <c:pt idx="4">
                  <c:v>16.10</c:v>
                </c:pt>
                <c:pt idx="5">
                  <c:v>19.10</c:v>
                </c:pt>
                <c:pt idx="6">
                  <c:v>20.10</c:v>
                </c:pt>
                <c:pt idx="7">
                  <c:v>21.10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</c:v>
                </c:pt>
                <c:pt idx="1">
                  <c:v>7</c:v>
                </c:pt>
                <c:pt idx="2">
                  <c:v>15</c:v>
                </c:pt>
                <c:pt idx="3">
                  <c:v>10</c:v>
                </c:pt>
                <c:pt idx="4">
                  <c:v>9</c:v>
                </c:pt>
                <c:pt idx="5">
                  <c:v>14</c:v>
                </c:pt>
                <c:pt idx="6">
                  <c:v>8</c:v>
                </c:pt>
                <c:pt idx="7">
                  <c:v>13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0.0"/>
          <c:min val="0.0"/>
        </c:scaling>
        <c:delete val="0"/>
        <c:axPos val="l"/>
        <c:majorGridlines/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75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75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900" b="1">
                <a:solidFill>
                  <a:srgbClr val="17181A"/>
                </a:solidFill>
                <a:latin typeface="Arial"/>
              </a:rPr>
              <a:t>Расход, $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Расход, $</c:v>
                </c:pt>
              </c:strCache>
            </c:strRef>
          </c:tx>
          <c:spPr>
            <a:ln w="22860">
              <a:solidFill>
                <a:srgbClr val="D0130D"/>
              </a:solidFill>
            </a:ln>
          </c:spPr>
          <c:marker>
            <c:symbol val="circle"/>
            <c:size val="4"/>
            <c:spPr>
              <a:solidFill>
                <a:srgbClr val="D0130D"/>
              </a:solidFill>
              <a:ln>
                <a:solidFill>
                  <a:srgbClr val="D0130D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12.10</c:v>
                </c:pt>
                <c:pt idx="1">
                  <c:v>13.10</c:v>
                </c:pt>
                <c:pt idx="2">
                  <c:v>14.10</c:v>
                </c:pt>
                <c:pt idx="3">
                  <c:v>15.10</c:v>
                </c:pt>
                <c:pt idx="4">
                  <c:v>16.10</c:v>
                </c:pt>
                <c:pt idx="5">
                  <c:v>19.10</c:v>
                </c:pt>
                <c:pt idx="6">
                  <c:v>20.10</c:v>
                </c:pt>
                <c:pt idx="7">
                  <c:v>21.10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7.7</c:v>
                </c:pt>
                <c:pt idx="1">
                  <c:v>7.8</c:v>
                </c:pt>
                <c:pt idx="2">
                  <c:v>16.5</c:v>
                </c:pt>
                <c:pt idx="3">
                  <c:v>13.3</c:v>
                </c:pt>
                <c:pt idx="4">
                  <c:v>9.9</c:v>
                </c:pt>
                <c:pt idx="5">
                  <c:v>12.6</c:v>
                </c:pt>
                <c:pt idx="6">
                  <c:v>6.8</c:v>
                </c:pt>
                <c:pt idx="7">
                  <c:v>12.5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0.0"/>
          <c:min val="0.0"/>
        </c:scaling>
        <c:delete val="0"/>
        <c:axPos val="l"/>
        <c:majorGridlines/>
        <c:numFmt formatCode="$0" sourceLinked="0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75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750"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900" b="1">
                <a:solidFill>
                  <a:srgbClr val="17181A"/>
                </a:solidFill>
                <a:latin typeface="Arial"/>
              </a:rPr>
              <a:t>Аукцион: IS, топ, абс. топ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показов</c:v>
                </c:pt>
              </c:strCache>
            </c:strRef>
          </c:tx>
          <c:spPr>
            <a:ln w="22860">
              <a:solidFill>
                <a:srgbClr val="D0130D"/>
              </a:solidFill>
            </a:ln>
          </c:spPr>
          <c:marker>
            <c:symbol val="circle"/>
            <c:size val="4"/>
            <c:spPr>
              <a:solidFill>
                <a:srgbClr val="D0130D"/>
              </a:solidFill>
              <a:ln>
                <a:solidFill>
                  <a:srgbClr val="D0130D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12.10</c:v>
                </c:pt>
                <c:pt idx="1">
                  <c:v>13.10</c:v>
                </c:pt>
                <c:pt idx="2">
                  <c:v>14.10</c:v>
                </c:pt>
                <c:pt idx="3">
                  <c:v>15.10</c:v>
                </c:pt>
                <c:pt idx="4">
                  <c:v>16.10</c:v>
                </c:pt>
                <c:pt idx="5">
                  <c:v>19.10</c:v>
                </c:pt>
                <c:pt idx="6">
                  <c:v>20.10</c:v>
                </c:pt>
                <c:pt idx="7">
                  <c:v>21.10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61.8</c:v>
                </c:pt>
                <c:pt idx="1">
                  <c:v>65.4</c:v>
                </c:pt>
                <c:pt idx="2">
                  <c:v>72.6</c:v>
                </c:pt>
                <c:pt idx="3">
                  <c:v>86.0</c:v>
                </c:pt>
                <c:pt idx="4">
                  <c:v>78.9</c:v>
                </c:pt>
                <c:pt idx="5">
                  <c:v>51.2</c:v>
                </c:pt>
                <c:pt idx="6">
                  <c:v>67.4</c:v>
                </c:pt>
                <c:pt idx="7">
                  <c:v>72.2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Топ страницы</c:v>
                </c:pt>
              </c:strCache>
            </c:strRef>
          </c:tx>
          <c:spPr>
            <a:ln w="22860">
              <a:solidFill>
                <a:srgbClr val="17181A"/>
              </a:solidFill>
            </a:ln>
          </c:spPr>
          <c:marker>
            <c:symbol val="circle"/>
            <c:size val="4"/>
            <c:spPr>
              <a:solidFill>
                <a:srgbClr val="17181A"/>
              </a:solidFill>
              <a:ln>
                <a:solidFill>
                  <a:srgbClr val="17181A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12.10</c:v>
                </c:pt>
                <c:pt idx="1">
                  <c:v>13.10</c:v>
                </c:pt>
                <c:pt idx="2">
                  <c:v>14.10</c:v>
                </c:pt>
                <c:pt idx="3">
                  <c:v>15.10</c:v>
                </c:pt>
                <c:pt idx="4">
                  <c:v>16.10</c:v>
                </c:pt>
                <c:pt idx="5">
                  <c:v>19.10</c:v>
                </c:pt>
                <c:pt idx="6">
                  <c:v>20.10</c:v>
                </c:pt>
                <c:pt idx="7">
                  <c:v>21.10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46.9</c:v>
                </c:pt>
                <c:pt idx="1">
                  <c:v>53.0</c:v>
                </c:pt>
                <c:pt idx="2">
                  <c:v>66.2</c:v>
                </c:pt>
                <c:pt idx="3">
                  <c:v>71.6</c:v>
                </c:pt>
                <c:pt idx="4">
                  <c:v>76.1</c:v>
                </c:pt>
                <c:pt idx="5">
                  <c:v>44.0</c:v>
                </c:pt>
                <c:pt idx="6">
                  <c:v>60.6</c:v>
                </c:pt>
                <c:pt idx="7">
                  <c:v>63.7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Абс. топ</c:v>
                </c:pt>
              </c:strCache>
            </c:strRef>
          </c:tx>
          <c:spPr>
            <a:ln w="22860">
              <a:solidFill>
                <a:srgbClr val="2F5FB8"/>
              </a:solidFill>
            </a:ln>
          </c:spPr>
          <c:marker>
            <c:symbol val="circle"/>
            <c:size val="4"/>
            <c:spPr>
              <a:solidFill>
                <a:srgbClr val="2F5FB8"/>
              </a:solidFill>
              <a:ln>
                <a:solidFill>
                  <a:srgbClr val="2F5FB8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12.10</c:v>
                </c:pt>
                <c:pt idx="1">
                  <c:v>13.10</c:v>
                </c:pt>
                <c:pt idx="2">
                  <c:v>14.10</c:v>
                </c:pt>
                <c:pt idx="3">
                  <c:v>15.10</c:v>
                </c:pt>
                <c:pt idx="4">
                  <c:v>16.10</c:v>
                </c:pt>
                <c:pt idx="5">
                  <c:v>19.10</c:v>
                </c:pt>
                <c:pt idx="6">
                  <c:v>20.10</c:v>
                </c:pt>
                <c:pt idx="7">
                  <c:v>21.10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13.2</c:v>
                </c:pt>
                <c:pt idx="1">
                  <c:v>13.6</c:v>
                </c:pt>
                <c:pt idx="2">
                  <c:v>44.2</c:v>
                </c:pt>
                <c:pt idx="3">
                  <c:v>50.2</c:v>
                </c:pt>
                <c:pt idx="4">
                  <c:v>49.0</c:v>
                </c:pt>
                <c:pt idx="5">
                  <c:v>20.2</c:v>
                </c:pt>
                <c:pt idx="6">
                  <c:v>20.8</c:v>
                </c:pt>
                <c:pt idx="7">
                  <c:v>37.9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0.0"/>
        </c:scaling>
        <c:delete val="0"/>
        <c:axPos val="l"/>
        <c:majorGridlines/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75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750"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900" b="1">
                <a:solidFill>
                  <a:srgbClr val="17181A"/>
                </a:solidFill>
                <a:latin typeface="Arial"/>
              </a:rPr>
              <a:t>Потери: бюджет и ранг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lostB</c:v>
                </c:pt>
              </c:strCache>
            </c:strRef>
          </c:tx>
          <c:spPr>
            <a:ln w="22860">
              <a:solidFill>
                <a:srgbClr val="D0130D"/>
              </a:solidFill>
            </a:ln>
          </c:spPr>
          <c:marker>
            <c:symbol val="circle"/>
            <c:size val="4"/>
            <c:spPr>
              <a:solidFill>
                <a:srgbClr val="D0130D"/>
              </a:solidFill>
              <a:ln>
                <a:solidFill>
                  <a:srgbClr val="D0130D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12.10</c:v>
                </c:pt>
                <c:pt idx="1">
                  <c:v>13.10</c:v>
                </c:pt>
                <c:pt idx="2">
                  <c:v>14.10</c:v>
                </c:pt>
                <c:pt idx="3">
                  <c:v>15.10</c:v>
                </c:pt>
                <c:pt idx="4">
                  <c:v>16.10</c:v>
                </c:pt>
                <c:pt idx="5">
                  <c:v>19.10</c:v>
                </c:pt>
                <c:pt idx="6">
                  <c:v>20.10</c:v>
                </c:pt>
                <c:pt idx="7">
                  <c:v>21.10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9.5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31.8</c:v>
                </c:pt>
                <c:pt idx="6">
                  <c:v>0.0</c:v>
                </c:pt>
                <c:pt idx="7">
                  <c:v>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lostR</c:v>
                </c:pt>
              </c:strCache>
            </c:strRef>
          </c:tx>
          <c:spPr>
            <a:ln w="22860">
              <a:solidFill>
                <a:srgbClr val="17181A"/>
              </a:solidFill>
            </a:ln>
          </c:spPr>
          <c:marker>
            <c:symbol val="circle"/>
            <c:size val="4"/>
            <c:spPr>
              <a:solidFill>
                <a:srgbClr val="17181A"/>
              </a:solidFill>
              <a:ln>
                <a:solidFill>
                  <a:srgbClr val="17181A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12.10</c:v>
                </c:pt>
                <c:pt idx="1">
                  <c:v>13.10</c:v>
                </c:pt>
                <c:pt idx="2">
                  <c:v>14.10</c:v>
                </c:pt>
                <c:pt idx="3">
                  <c:v>15.10</c:v>
                </c:pt>
                <c:pt idx="4">
                  <c:v>16.10</c:v>
                </c:pt>
                <c:pt idx="5">
                  <c:v>19.10</c:v>
                </c:pt>
                <c:pt idx="6">
                  <c:v>20.10</c:v>
                </c:pt>
                <c:pt idx="7">
                  <c:v>21.10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28.7</c:v>
                </c:pt>
                <c:pt idx="1">
                  <c:v>34.6</c:v>
                </c:pt>
                <c:pt idx="2">
                  <c:v>27.4</c:v>
                </c:pt>
                <c:pt idx="3">
                  <c:v>14.0</c:v>
                </c:pt>
                <c:pt idx="4">
                  <c:v>21.1</c:v>
                </c:pt>
                <c:pt idx="5">
                  <c:v>17.0</c:v>
                </c:pt>
                <c:pt idx="6">
                  <c:v>32.6</c:v>
                </c:pt>
                <c:pt idx="7">
                  <c:v>27.8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0.0"/>
        </c:scaling>
        <c:delete val="0"/>
        <c:axPos val="l"/>
        <c:majorGridlines/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75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75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9728" cy="361188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097280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D0130D"/>
                </a:solidFill>
                <a:latin typeface="Arial"/>
              </a:rPr>
              <a:t>GOOGLE ADS / VTI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508760"/>
            <a:ext cx="9875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VTI: клики, показы,</a:t>
            </a:r>
          </a:p>
          <a:p>
            <a:pPr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аукцион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063240"/>
            <a:ext cx="9875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800" b="0">
                <a:solidFill>
                  <a:srgbClr val="E6E6E6"/>
                </a:solidFill>
                <a:latin typeface="Arial"/>
              </a:rPr>
              <a:t>4 кампании · 12–21 октября 2026</a:t>
            </a:r>
          </a:p>
          <a:p>
            <a:pPr>
              <a:spcAft>
                <a:spcPts val="0"/>
              </a:spcAft>
            </a:pPr>
            <a:r>
              <a:rPr sz="1800" b="0">
                <a:solidFill>
                  <a:srgbClr val="E6E6E6"/>
                </a:solidFill>
                <a:latin typeface="Arial"/>
              </a:rPr>
              <a:t>конверсии не настроены — оцениваем клики и аукцион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4709160"/>
            <a:ext cx="4572000" cy="18288"/>
          </a:xfrm>
          <a:prstGeom prst="rect">
            <a:avLst/>
          </a:prstGeom>
          <a:solidFill>
            <a:srgbClr val="3A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873752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B9B9B9"/>
                </a:solidFill>
                <a:latin typeface="Arial"/>
              </a:rPr>
              <a:t>Подготовлено 22.10.2026 · без изменений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ГЛАВНОЕ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181A"/>
                </a:solidFill>
                <a:latin typeface="Arial"/>
              </a:rPr>
              <a:t>VTI: трафик есть, но его мало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Подготовлено 22.10.2026 · без изменений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325880"/>
            <a:ext cx="231343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D0130D"/>
                </a:solidFill>
                <a:latin typeface="Arial"/>
              </a:rPr>
              <a:t>667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801368"/>
            <a:ext cx="231343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6E73"/>
                </a:solidFill>
                <a:latin typeface="Arial"/>
              </a:rPr>
              <a:t>показов за 30 дней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23444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92424" y="1325880"/>
            <a:ext cx="231343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D0130D"/>
                </a:solidFill>
                <a:latin typeface="Arial"/>
              </a:rPr>
              <a:t>86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2424" y="1801368"/>
            <a:ext cx="231343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6E73"/>
                </a:solidFill>
                <a:latin typeface="Arial"/>
              </a:rPr>
              <a:t>кликов за 30 дней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23444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35624" y="1325880"/>
            <a:ext cx="231343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D0130D"/>
                </a:solidFill>
                <a:latin typeface="Arial"/>
              </a:rPr>
              <a:t>$87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35624" y="1801368"/>
            <a:ext cx="231343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6E73"/>
                </a:solidFill>
                <a:latin typeface="Arial"/>
              </a:rPr>
              <a:t>расход за 30 дней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123444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17181A"/>
          </a:solidFill>
          <a:ln>
            <a:solidFill>
              <a:srgbClr val="17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78824" y="1325880"/>
            <a:ext cx="231343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78824" y="1801368"/>
            <a:ext cx="231343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D9D9D9"/>
                </a:solidFill>
                <a:latin typeface="Arial"/>
              </a:rPr>
              <a:t>конверсий: не настроены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514600"/>
            <a:ext cx="557784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60">
                <a:solidFill>
                  <a:srgbClr val="D0130D"/>
                </a:solidFill>
                <a:latin typeface="Arial"/>
              </a:rPr>
              <a:t>●  </a:t>
            </a:r>
            <a:r>
              <a:rPr sz="1060">
                <a:solidFill>
                  <a:srgbClr val="17181A"/>
                </a:solidFill>
                <a:latin typeface="Arial"/>
              </a:rPr>
              <a:t>4 кампании, $5/день каждая: вентиляция, водопровод, тепловой узел, аварийные работы.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60">
                <a:solidFill>
                  <a:srgbClr val="D0130D"/>
                </a:solidFill>
                <a:latin typeface="Arial"/>
              </a:rPr>
              <a:t>●  </a:t>
            </a:r>
            <a:r>
              <a:rPr sz="1060">
                <a:solidFill>
                  <a:srgbClr val="17181A"/>
                </a:solidFill>
                <a:latin typeface="Arial"/>
              </a:rPr>
              <a:t>За 30 дней 667 показов и 86 кликов — это мало. Средний CPC $1,01.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60">
                <a:solidFill>
                  <a:srgbClr val="D0130D"/>
                </a:solidFill>
                <a:latin typeface="Arial"/>
              </a:rPr>
              <a:t>●  </a:t>
            </a:r>
            <a:r>
              <a:rPr sz="1060">
                <a:solidFill>
                  <a:srgbClr val="17181A"/>
                </a:solidFill>
                <a:latin typeface="Arial"/>
              </a:rPr>
              <a:t>Аукцион сильный: доля показов 67%, топ страницы 86,7%, абсолютный топ 43,3%.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60">
                <a:solidFill>
                  <a:srgbClr val="D0130D"/>
                </a:solidFill>
                <a:latin typeface="Arial"/>
              </a:rPr>
              <a:t>●  </a:t>
            </a:r>
            <a:r>
              <a:rPr sz="1060">
                <a:solidFill>
                  <a:srgbClr val="17181A"/>
                </a:solidFill>
                <a:latin typeface="Arial"/>
              </a:rPr>
              <a:t>Проблема не в ранге, а в объёме: мало показов и кликов. Конверсии не настроены — CPA не считаем.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514600"/>
            <a:ext cx="525780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1968" y="2697480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D0130D"/>
                </a:solidFill>
                <a:latin typeface="Arial"/>
              </a:rPr>
              <a:t>ЧТО ДЕЛАТЬ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3017520"/>
            <a:ext cx="48463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Не гнаться за абсолютным топом: 43% уже выше рынка.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Расширять объём: больше ключей/гео, поднять бюджет на вентиляцию и водопровод.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Добавить конверсии, когда будет задача считать CPA.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ДНИ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181A"/>
                </a:solidFill>
                <a:latin typeface="Arial"/>
              </a:rPr>
              <a:t>VTI: клики и расход по дням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Подготовлено 22.10.2026 · без изменений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234440"/>
          <a:ext cx="265176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46120" y="1234440"/>
          <a:ext cx="265176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55080" y="1280160"/>
            <a:ext cx="53035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00">
                <a:solidFill>
                  <a:srgbClr val="D0130D"/>
                </a:solidFill>
                <a:latin typeface="Arial"/>
              </a:rPr>
              <a:t>●  </a:t>
            </a:r>
            <a:r>
              <a:rPr sz="1000">
                <a:solidFill>
                  <a:srgbClr val="17181A"/>
                </a:solidFill>
                <a:latin typeface="Arial"/>
              </a:rPr>
              <a:t>12–16.10: 7–15 кликов/день, расход $7,8–16,5.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00">
                <a:solidFill>
                  <a:srgbClr val="D0130D"/>
                </a:solidFill>
                <a:latin typeface="Arial"/>
              </a:rPr>
              <a:t>●  </a:t>
            </a:r>
            <a:r>
              <a:rPr sz="1000">
                <a:solidFill>
                  <a:srgbClr val="17181A"/>
                </a:solidFill>
                <a:latin typeface="Arial"/>
              </a:rPr>
              <a:t>19–21.10: 8–14 кликов/день, расход $6,9–12,5.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00">
                <a:solidFill>
                  <a:srgbClr val="D0130D"/>
                </a:solidFill>
                <a:latin typeface="Arial"/>
              </a:rPr>
              <a:t>●  </a:t>
            </a:r>
            <a:r>
              <a:rPr sz="1000">
                <a:solidFill>
                  <a:srgbClr val="17181A"/>
                </a:solidFill>
                <a:latin typeface="Arial"/>
              </a:rPr>
              <a:t>22.10 — 1 клик, $1 (неполный день).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00">
                <a:solidFill>
                  <a:srgbClr val="D0130D"/>
                </a:solidFill>
                <a:latin typeface="Arial"/>
              </a:rPr>
              <a:t>●  </a:t>
            </a:r>
            <a:r>
              <a:rPr sz="1000">
                <a:solidFill>
                  <a:srgbClr val="17181A"/>
                </a:solidFill>
                <a:latin typeface="Arial"/>
              </a:rPr>
              <a:t>Вентиляция — главный источник: 50 кликов и $47 из $87.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ДНИ · АУКЦИОН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181A"/>
                </a:solidFill>
                <a:latin typeface="Arial"/>
              </a:rPr>
              <a:t>VTI: доля показов и потери по дням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Подготовлено 22.10.2026 · без изменений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234440"/>
          <a:ext cx="54864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263640" y="1234440"/>
          <a:ext cx="5394960" cy="3931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303520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640">
                <a:solidFill>
                  <a:srgbClr val="D0130D"/>
                </a:solidFill>
                <a:latin typeface="Arial"/>
              </a:rPr>
              <a:t>●  </a:t>
            </a:r>
            <a:r>
              <a:rPr sz="940">
                <a:solidFill>
                  <a:srgbClr val="17181A"/>
                </a:solidFill>
                <a:latin typeface="Arial"/>
              </a:rPr>
              <a:t>VTI держит 60–70% доли показов и 80–90% топа страницы; абсолютный топ 40–45% — выше конкурентов.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640">
                <a:solidFill>
                  <a:srgbClr val="D0130D"/>
                </a:solidFill>
                <a:latin typeface="Arial"/>
              </a:rPr>
              <a:t>●  </a:t>
            </a:r>
            <a:r>
              <a:rPr sz="940">
                <a:solidFill>
                  <a:srgbClr val="17181A"/>
                </a:solidFill>
                <a:latin typeface="Arial"/>
              </a:rPr>
              <a:t>Потеря по рангу 20–40%, по бюджету 0–10%. Это сильный аукцион, но мало объёма: 667 показов за 30 дней.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30 ДНЕЙ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181A"/>
                </a:solidFill>
                <a:latin typeface="Arial"/>
              </a:rPr>
              <a:t>VTI: кампании, доля показов, потери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Подготовлено 22.10.2026 · без изменений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859536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822960"/>
                <a:gridCol w="914400"/>
                <a:gridCol w="822960"/>
                <a:gridCol w="914400"/>
                <a:gridCol w="822960"/>
                <a:gridCol w="822960"/>
                <a:gridCol w="82296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Кампания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Бюджет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Показы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Клики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Расход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IS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lostB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lostR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Монтаж вентиляции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$5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430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$47,18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61,1%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29,0%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Монтаж водопровода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$5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$28,53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81,8%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2,0%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Монтаж теплового узла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$5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$7,17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52,2%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47,8%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Аварийные работы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$5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$4,23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90,9%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Итого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667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$87,11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67,0%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28,0%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3977639"/>
            <a:ext cx="54864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Вентиляция: 50 кликов, $47 — половина расхода.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Водопровод: 26 кликов, $28,5 — второй драйвер.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Тепловой узел: 5 кликов, lostR 47,8% — мало объёма, не бюджет.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3977639"/>
            <a:ext cx="53949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80" b="0">
                <a:solidFill>
                  <a:srgbClr val="6E6E73"/>
                </a:solidFill>
                <a:latin typeface="Arial"/>
              </a:rPr>
              <a:t>Бюджеты по $5/день — это не «масштаб», а тест.</a:t>
            </a:r>
          </a:p>
          <a:p>
            <a:pPr>
              <a:spcAft>
                <a:spcPts val="0"/>
              </a:spcAft>
            </a:pPr>
            <a:r>
              <a:rPr sz="980" b="0">
                <a:solidFill>
                  <a:srgbClr val="6E6E73"/>
                </a:solidFill>
                <a:latin typeface="Arial"/>
              </a:rPr>
              <a:t>Если растёт клик, а конверсий нет, сначала проверяем</a:t>
            </a:r>
          </a:p>
          <a:p>
            <a:pPr>
              <a:spcAft>
                <a:spcPts val="0"/>
              </a:spcAft>
            </a:pPr>
            <a:r>
              <a:rPr sz="980" b="0">
                <a:solidFill>
                  <a:srgbClr val="6E6E73"/>
                </a:solidFill>
                <a:latin typeface="Arial"/>
              </a:rPr>
              <a:t>посадочную и форму, потом поднимаем бюджет.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АУКЦИОН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181A"/>
                </a:solidFill>
                <a:latin typeface="Arial"/>
              </a:rPr>
              <a:t>VTI: сильная доля показов, слабый объём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Подготовлено 22.10.2026 · без изменений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6858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777240"/>
                <a:gridCol w="822960"/>
                <a:gridCol w="777240"/>
                <a:gridCol w="731520"/>
                <a:gridCol w="822960"/>
                <a:gridCol w="91440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Конкурент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Доля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Пересеч.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Выше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Топ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Абс. топ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Выигрыши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17181A"/>
                          </a:solidFill>
                          <a:latin typeface="Arial"/>
                        </a:rPr>
                        <a:t>Вы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1">
                          <a:solidFill>
                            <a:srgbClr val="17181A"/>
                          </a:solidFill>
                          <a:latin typeface="Arial"/>
                        </a:rPr>
                        <a:t>67,0%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1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1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1">
                          <a:solidFill>
                            <a:srgbClr val="17181A"/>
                          </a:solidFill>
                          <a:latin typeface="Arial"/>
                        </a:rPr>
                        <a:t>86,7%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1">
                          <a:solidFill>
                            <a:srgbClr val="17181A"/>
                          </a:solidFill>
                          <a:latin typeface="Arial"/>
                        </a:rPr>
                        <a:t>43,3%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1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sandareal.by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26,3%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40,9%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89,0%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59,8%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glavlab.by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19,2%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65,5%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87,0%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41,3%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58,6%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eleco.by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14,4%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55,6%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94,9%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38,5%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61,7%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m-100.by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66,1%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88,5%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42,3%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60,7%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092440" y="1280160"/>
            <a:ext cx="36118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Доля показов 67% — выше всех конкурентов.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Топ страницы 86,7%, абсолютный топ 43,3% — уже сильнее рынка.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Конкуренты обходят в 41–66% пересечений, но у них доля ниже.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Вывод: не тратить деньги на абсолютный топ. Нужен объём: ключи, гео, бюджет.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177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760" b="0">
                <a:solidFill>
                  <a:srgbClr val="6E6E73"/>
                </a:solidFill>
                <a:latin typeface="Arial"/>
              </a:rPr>
              <a:t>30 дней, UI. Выкуп = доля показов; выигрыши — процент побед в аукционе.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ЗАПРОСЫ И ПЛАН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181A"/>
                </a:solidFill>
                <a:latin typeface="Arial"/>
              </a:rPr>
              <a:t>VTI: запросы релевантные, минусовка сильная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Подготовлено 22.10.2026 · без изменений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00">
                <a:solidFill>
                  <a:srgbClr val="D0130D"/>
                </a:solidFill>
                <a:latin typeface="Arial"/>
              </a:rPr>
              <a:t>●  </a:t>
            </a:r>
            <a:r>
              <a:rPr sz="1000">
                <a:solidFill>
                  <a:srgbClr val="17181A"/>
                </a:solidFill>
                <a:latin typeface="Arial"/>
              </a:rPr>
              <a:t>1 118 минус-слов на кампаниях — аккаунт хорошо зачищен.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00">
                <a:solidFill>
                  <a:srgbClr val="D0130D"/>
                </a:solidFill>
                <a:latin typeface="Arial"/>
              </a:rPr>
              <a:t>●  </a:t>
            </a:r>
            <a:r>
              <a:rPr sz="1000">
                <a:solidFill>
                  <a:srgbClr val="17181A"/>
                </a:solidFill>
                <a:latin typeface="Arial"/>
              </a:rPr>
              <a:t>Запросы: монтаж воздуховодов, установка вытяжки, прокладка водопровода, монтаж ИТП, расценки на вентиляцию.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00">
                <a:solidFill>
                  <a:srgbClr val="D0130D"/>
                </a:solidFill>
                <a:latin typeface="Arial"/>
              </a:rPr>
              <a:t>●  </a:t>
            </a:r>
            <a:r>
              <a:rPr sz="1000">
                <a:solidFill>
                  <a:srgbClr val="17181A"/>
                </a:solidFill>
                <a:latin typeface="Arial"/>
              </a:rPr>
              <a:t>Мусора мало; есть «монтаж кондиционера» и «бризер» — проверить, делаете ли.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00">
                <a:solidFill>
                  <a:srgbClr val="D0130D"/>
                </a:solidFill>
                <a:latin typeface="Arial"/>
              </a:rPr>
              <a:t>●  </a:t>
            </a:r>
            <a:r>
              <a:rPr sz="1000">
                <a:solidFill>
                  <a:srgbClr val="17181A"/>
                </a:solidFill>
                <a:latin typeface="Arial"/>
              </a:rPr>
              <a:t>QS в основном без данных; «прокладка водопровода» QS 4 с LP ниже — точечно посадочная.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234440"/>
            <a:ext cx="53949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00">
                <a:solidFill>
                  <a:srgbClr val="D0130D"/>
                </a:solidFill>
                <a:latin typeface="Arial"/>
              </a:rPr>
              <a:t>●  </a:t>
            </a:r>
            <a:r>
              <a:rPr sz="1000">
                <a:solidFill>
                  <a:srgbClr val="17181A"/>
                </a:solidFill>
                <a:latin typeface="Arial"/>
              </a:rPr>
              <a:t>План: 1) конверсии — когда нужен CPA; 2) объём — ключи/гео/бюджет на вентиляцию и водопровод; 3) посадочные — H1/цены/формы уже есть, проверить мобильные.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00">
                <a:solidFill>
                  <a:srgbClr val="D0130D"/>
                </a:solidFill>
                <a:latin typeface="Arial"/>
              </a:rPr>
              <a:t>●  </a:t>
            </a:r>
            <a:r>
              <a:rPr sz="1000">
                <a:solidFill>
                  <a:srgbClr val="17181A"/>
                </a:solidFill>
                <a:latin typeface="Arial"/>
              </a:rPr>
              <a:t>Не менять ставки до накопления 30+ кликов на кампанию.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00">
                <a:solidFill>
                  <a:srgbClr val="D0130D"/>
                </a:solidFill>
                <a:latin typeface="Arial"/>
              </a:rPr>
              <a:t>●  </a:t>
            </a:r>
            <a:r>
              <a:rPr sz="1000">
                <a:solidFill>
                  <a:srgbClr val="17181A"/>
                </a:solidFill>
                <a:latin typeface="Arial"/>
              </a:rPr>
              <a:t>Цель: 150–200 кликов/мес, а не абсолютный топ.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