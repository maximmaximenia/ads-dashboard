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850" b="1">
                <a:solidFill>
                  <a:srgbClr val="17181A"/>
                </a:solidFill>
                <a:latin typeface="Arial"/>
              </a:rPr>
              <a:t>Аукцион по дням: что получили и что потеряли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Получено (IS)</c:v>
                </c:pt>
              </c:strCache>
            </c:strRef>
          </c:tx>
          <c:spPr>
            <a:solidFill>
              <a:srgbClr val="17181A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69.4</c:v>
                </c:pt>
                <c:pt idx="1">
                  <c:v>81.9</c:v>
                </c:pt>
                <c:pt idx="2">
                  <c:v>45.6</c:v>
                </c:pt>
                <c:pt idx="3">
                  <c:v>49.4</c:v>
                </c:pt>
                <c:pt idx="4">
                  <c:v>50.6</c:v>
                </c:pt>
                <c:pt idx="5">
                  <c:v>48.8</c:v>
                </c:pt>
                <c:pt idx="6">
                  <c:v>39.0</c:v>
                </c:pt>
                <c:pt idx="7">
                  <c:v>54.3</c:v>
                </c:pt>
                <c:pt idx="8">
                  <c:v>62.9</c:v>
                </c:pt>
                <c:pt idx="9">
                  <c:v>60.5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Потеряно по бюджету</c:v>
                </c:pt>
              </c:strCache>
            </c:strRef>
          </c:tx>
          <c:spPr>
            <a:solidFill>
              <a:srgbClr val="D0130D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30.3</c:v>
                </c:pt>
                <c:pt idx="1">
                  <c:v>11.8</c:v>
                </c:pt>
                <c:pt idx="2">
                  <c:v>35.5</c:v>
                </c:pt>
                <c:pt idx="3">
                  <c:v>37.4</c:v>
                </c:pt>
                <c:pt idx="4">
                  <c:v>21.4</c:v>
                </c:pt>
                <c:pt idx="5">
                  <c:v>16.2</c:v>
                </c:pt>
                <c:pt idx="6">
                  <c:v>34.7</c:v>
                </c:pt>
                <c:pt idx="7">
                  <c:v>25.4</c:v>
                </c:pt>
                <c:pt idx="8">
                  <c:v>10.6</c:v>
                </c:pt>
                <c:pt idx="9">
                  <c:v>8.7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Потеряно по рангу</c:v>
                </c:pt>
              </c:strCache>
            </c:strRef>
          </c:tx>
          <c:spPr>
            <a:solidFill>
              <a:srgbClr val="9A9A9E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0.2</c:v>
                </c:pt>
                <c:pt idx="1">
                  <c:v>6.2</c:v>
                </c:pt>
                <c:pt idx="2">
                  <c:v>18.8</c:v>
                </c:pt>
                <c:pt idx="3">
                  <c:v>13.3</c:v>
                </c:pt>
                <c:pt idx="4">
                  <c:v>28.0</c:v>
                </c:pt>
                <c:pt idx="5">
                  <c:v>35.0</c:v>
                </c:pt>
                <c:pt idx="6">
                  <c:v>26.3</c:v>
                </c:pt>
                <c:pt idx="7">
                  <c:v>20.3</c:v>
                </c:pt>
                <c:pt idx="8">
                  <c:v>26.5</c:v>
                </c:pt>
                <c:pt idx="9">
                  <c:v>30.8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560"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2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>
          <c:spPr>
            <a:ln>
              <a:solidFill>
                <a:srgbClr val="E8E8E4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63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>
              <a:latin typeface="Arial"/>
            </a:defRPr>
          </a:pPr>
        </a:p>
      </c:txPr>
    </c:legend>
    <c:dispBlanksAs val="gap"/>
  </c:chart>
  <c:txPr>
    <a:bodyPr/>
    <a:lstStyle/>
    <a:p>
      <a:pPr>
        <a:defRPr sz="65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850" b="1">
                <a:solidFill>
                  <a:srgbClr val="17181A"/>
                </a:solidFill>
                <a:latin typeface="Arial"/>
              </a:rPr>
              <a:t>Звонки по дням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Звонки по дням</c:v>
                </c:pt>
              </c:strCache>
            </c:strRef>
          </c:tx>
          <c:spPr>
            <a:solidFill>
              <a:srgbClr val="D0130D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2.0</c:v>
                </c:pt>
                <c:pt idx="1">
                  <c:v>1.0</c:v>
                </c:pt>
                <c:pt idx="2">
                  <c:v>2.0</c:v>
                </c:pt>
                <c:pt idx="3">
                  <c:v>10.0</c:v>
                </c:pt>
                <c:pt idx="4">
                  <c:v>8.0</c:v>
                </c:pt>
                <c:pt idx="5">
                  <c:v>7.0</c:v>
                </c:pt>
                <c:pt idx="6">
                  <c:v>6.0</c:v>
                </c:pt>
                <c:pt idx="7">
                  <c:v>2.0</c:v>
                </c:pt>
                <c:pt idx="8">
                  <c:v>6.0</c:v>
                </c:pt>
                <c:pt idx="9">
                  <c:v>8.0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62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2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008361"/>
          <c:min val="0.0"/>
        </c:scaling>
        <c:delete val="0"/>
        <c:axPos val="l"/>
        <c:majorGridlines>
          <c:spPr>
            <a:ln>
              <a:solidFill>
                <a:srgbClr val="E8E8E4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63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850" b="1">
                <a:solidFill>
                  <a:srgbClr val="17181A"/>
                </a:solidFill>
                <a:latin typeface="Arial"/>
              </a:rPr>
              <a:t>CPA по дням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CPA по дням</c:v>
                </c:pt>
              </c:strCache>
            </c:strRef>
          </c:tx>
          <c:spPr>
            <a:solidFill>
              <a:srgbClr val="2F5FB8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7.95</c:v>
                </c:pt>
                <c:pt idx="1">
                  <c:v>16.92</c:v>
                </c:pt>
                <c:pt idx="2">
                  <c:v>9.73</c:v>
                </c:pt>
                <c:pt idx="3">
                  <c:v>2.25</c:v>
                </c:pt>
                <c:pt idx="4">
                  <c:v>2.94</c:v>
                </c:pt>
                <c:pt idx="5">
                  <c:v>2.99</c:v>
                </c:pt>
                <c:pt idx="6">
                  <c:v>4.13</c:v>
                </c:pt>
                <c:pt idx="7">
                  <c:v>10.63</c:v>
                </c:pt>
                <c:pt idx="8">
                  <c:v>5.38</c:v>
                </c:pt>
                <c:pt idx="9">
                  <c:v>4.27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sz="62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2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0"/>
          <c:min val="0.0"/>
        </c:scaling>
        <c:delete val="0"/>
        <c:axPos val="l"/>
        <c:majorGridlines>
          <c:spPr>
            <a:ln>
              <a:solidFill>
                <a:srgbClr val="E8E8E4"/>
              </a:solidFill>
            </a:ln>
          </c:spPr>
        </c:majorGridlines>
        <c:numFmt formatCode="$0.00" sourceLinked="0"/>
        <c:majorTickMark val="out"/>
        <c:minorTickMark val="none"/>
        <c:tickLblPos val="nextTo"/>
        <c:txPr>
          <a:bodyPr/>
          <a:lstStyle/>
          <a:p>
            <a:pPr>
              <a:defRPr sz="63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850" b="1">
                <a:solidFill>
                  <a:srgbClr val="17181A"/>
                </a:solidFill>
                <a:latin typeface="Arial"/>
              </a:rPr>
              <a:t>Где показываемся: топ / абс. топ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Топ страницы</c:v>
                </c:pt>
              </c:strCache>
            </c:strRef>
          </c:tx>
          <c:spPr>
            <a:solidFill>
              <a:srgbClr val="2F5FB8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58.9</c:v>
                </c:pt>
                <c:pt idx="1">
                  <c:v>70.4</c:v>
                </c:pt>
                <c:pt idx="2">
                  <c:v>34.9</c:v>
                </c:pt>
                <c:pt idx="3">
                  <c:v>38.6</c:v>
                </c:pt>
                <c:pt idx="4">
                  <c:v>41.7</c:v>
                </c:pt>
                <c:pt idx="5">
                  <c:v>40.7</c:v>
                </c:pt>
                <c:pt idx="6">
                  <c:v>31.3</c:v>
                </c:pt>
                <c:pt idx="7">
                  <c:v>45.0</c:v>
                </c:pt>
                <c:pt idx="8">
                  <c:v>52.6</c:v>
                </c:pt>
                <c:pt idx="9">
                  <c:v>48.4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Абс. топ</c:v>
                </c:pt>
              </c:strCache>
            </c:strRef>
          </c:tx>
          <c:spPr>
            <a:solidFill>
              <a:srgbClr val="17181A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08.10</c:v>
                </c:pt>
                <c:pt idx="1">
                  <c:v>09.10</c:v>
                </c:pt>
                <c:pt idx="2">
                  <c:v>12.10</c:v>
                </c:pt>
                <c:pt idx="3">
                  <c:v>13.10</c:v>
                </c:pt>
                <c:pt idx="4">
                  <c:v>14.10</c:v>
                </c:pt>
                <c:pt idx="5">
                  <c:v>15.10</c:v>
                </c:pt>
                <c:pt idx="6">
                  <c:v>16.10</c:v>
                </c:pt>
                <c:pt idx="7">
                  <c:v>19.10</c:v>
                </c:pt>
                <c:pt idx="8">
                  <c:v>20.10</c:v>
                </c:pt>
                <c:pt idx="9">
                  <c:v>21.10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17.5</c:v>
                </c:pt>
                <c:pt idx="1">
                  <c:v>30.3</c:v>
                </c:pt>
                <c:pt idx="2">
                  <c:v>11.5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14.3</c:v>
                </c:pt>
                <c:pt idx="7">
                  <c:v>13.5</c:v>
                </c:pt>
                <c:pt idx="8">
                  <c:v>18.6</c:v>
                </c:pt>
                <c:pt idx="9">
                  <c:v>18.3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2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8E8E4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63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>
              <a:latin typeface="Arial"/>
            </a:defRPr>
          </a:pPr>
        </a:p>
      </c:txPr>
    </c:legend>
    <c:dispBlanksAs val="gap"/>
  </c:chart>
  <c:txPr>
    <a:bodyPr/>
    <a:lstStyle/>
    <a:p>
      <a:pPr>
        <a:defRPr sz="65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850" b="1">
                <a:solidFill>
                  <a:srgbClr val="17181A"/>
                </a:solidFill>
                <a:latin typeface="Arial"/>
              </a:rPr>
              <a:t>Звонки по часам, стек по кампаниям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Развал</c:v>
                </c:pt>
              </c:strCache>
            </c:strRef>
          </c:tx>
          <c:spPr>
            <a:solidFill>
              <a:srgbClr val="D0130D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09</c:v>
                </c:pt>
                <c:pt idx="1">
                  <c:v>10</c:v>
                </c:pt>
                <c:pt idx="2">
                  <c:v>11</c:v>
                </c:pt>
                <c:pt idx="3">
                  <c:v>12</c:v>
                </c:pt>
                <c:pt idx="4">
                  <c:v>13</c:v>
                </c:pt>
                <c:pt idx="5">
                  <c:v>14</c:v>
                </c:pt>
                <c:pt idx="6">
                  <c:v>15</c:v>
                </c:pt>
                <c:pt idx="7">
                  <c:v>16</c:v>
                </c:pt>
                <c:pt idx="8">
                  <c:v>17</c:v>
                </c:pt>
                <c:pt idx="9">
                  <c:v>18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2.0</c:v>
                </c:pt>
                <c:pt idx="1">
                  <c:v>1.0</c:v>
                </c:pt>
                <c:pt idx="2">
                  <c:v>4.0</c:v>
                </c:pt>
                <c:pt idx="3">
                  <c:v>0.0</c:v>
                </c:pt>
                <c:pt idx="4">
                  <c:v>2.0</c:v>
                </c:pt>
                <c:pt idx="5">
                  <c:v>1.0</c:v>
                </c:pt>
                <c:pt idx="6">
                  <c:v>2.0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СТО-По маркам</c:v>
                </c:pt>
              </c:strCache>
            </c:strRef>
          </c:tx>
          <c:spPr>
            <a:solidFill>
              <a:srgbClr val="17181A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09</c:v>
                </c:pt>
                <c:pt idx="1">
                  <c:v>10</c:v>
                </c:pt>
                <c:pt idx="2">
                  <c:v>11</c:v>
                </c:pt>
                <c:pt idx="3">
                  <c:v>12</c:v>
                </c:pt>
                <c:pt idx="4">
                  <c:v>13</c:v>
                </c:pt>
                <c:pt idx="5">
                  <c:v>14</c:v>
                </c:pt>
                <c:pt idx="6">
                  <c:v>15</c:v>
                </c:pt>
                <c:pt idx="7">
                  <c:v>16</c:v>
                </c:pt>
                <c:pt idx="8">
                  <c:v>17</c:v>
                </c:pt>
                <c:pt idx="9">
                  <c:v>18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2.0</c:v>
                </c:pt>
                <c:pt idx="1">
                  <c:v>3.0</c:v>
                </c:pt>
                <c:pt idx="2">
                  <c:v>1.0</c:v>
                </c:pt>
                <c:pt idx="3">
                  <c:v>3.0</c:v>
                </c:pt>
                <c:pt idx="4">
                  <c:v>5.0</c:v>
                </c:pt>
                <c:pt idx="5">
                  <c:v>2.0</c:v>
                </c:pt>
                <c:pt idx="6">
                  <c:v>1.0</c:v>
                </c:pt>
                <c:pt idx="7">
                  <c:v>2.0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Регулировка</c:v>
                </c:pt>
              </c:strCache>
            </c:strRef>
          </c:tx>
          <c:spPr>
            <a:solidFill>
              <a:srgbClr val="2F5FB8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09</c:v>
                </c:pt>
                <c:pt idx="1">
                  <c:v>10</c:v>
                </c:pt>
                <c:pt idx="2">
                  <c:v>11</c:v>
                </c:pt>
                <c:pt idx="3">
                  <c:v>12</c:v>
                </c:pt>
                <c:pt idx="4">
                  <c:v>13</c:v>
                </c:pt>
                <c:pt idx="5">
                  <c:v>14</c:v>
                </c:pt>
                <c:pt idx="6">
                  <c:v>15</c:v>
                </c:pt>
                <c:pt idx="7">
                  <c:v>16</c:v>
                </c:pt>
                <c:pt idx="8">
                  <c:v>17</c:v>
                </c:pt>
                <c:pt idx="9">
                  <c:v>18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1.0</c:v>
                </c:pt>
                <c:pt idx="1">
                  <c:v>0.7</c:v>
                </c:pt>
                <c:pt idx="2">
                  <c:v>5.3</c:v>
                </c:pt>
                <c:pt idx="3">
                  <c:v>1.0</c:v>
                </c:pt>
                <c:pt idx="4">
                  <c:v>1.0</c:v>
                </c:pt>
                <c:pt idx="5">
                  <c:v>4.0</c:v>
                </c:pt>
                <c:pt idx="6">
                  <c:v>0.0</c:v>
                </c:pt>
                <c:pt idx="7">
                  <c:v>1.0</c:v>
                </c:pt>
                <c:pt idx="8">
                  <c:v>1.0</c:v>
                </c:pt>
                <c:pt idx="9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Проточка</c:v>
                </c:pt>
              </c:strCache>
            </c:strRef>
          </c:tx>
          <c:spPr>
            <a:solidFill>
              <a:srgbClr val="9A9A9E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09</c:v>
                </c:pt>
                <c:pt idx="1">
                  <c:v>10</c:v>
                </c:pt>
                <c:pt idx="2">
                  <c:v>11</c:v>
                </c:pt>
                <c:pt idx="3">
                  <c:v>12</c:v>
                </c:pt>
                <c:pt idx="4">
                  <c:v>13</c:v>
                </c:pt>
                <c:pt idx="5">
                  <c:v>14</c:v>
                </c:pt>
                <c:pt idx="6">
                  <c:v>15</c:v>
                </c:pt>
                <c:pt idx="7">
                  <c:v>16</c:v>
                </c:pt>
                <c:pt idx="8">
                  <c:v>17</c:v>
                </c:pt>
                <c:pt idx="9">
                  <c:v>18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1.0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2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l"/>
        <c:majorGridlines>
          <c:spPr>
            <a:ln>
              <a:solidFill>
                <a:srgbClr val="E8E8E4"/>
              </a:solidFill>
            </a:ln>
          </c:spPr>
        </c:majorGridlines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63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650">
              <a:latin typeface="Arial"/>
            </a:defRPr>
          </a:pPr>
        </a:p>
      </c:txPr>
    </c:legend>
    <c:dispBlanksAs val="gap"/>
  </c:chart>
  <c:txPr>
    <a:bodyPr/>
    <a:lstStyle/>
    <a:p>
      <a:pPr>
        <a:defRPr sz="65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850" b="1">
                <a:solidFill>
                  <a:srgbClr val="17181A"/>
                </a:solidFill>
                <a:latin typeface="Arial"/>
              </a:rPr>
              <a:t>Звонки по дням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Звонки</c:v>
                </c:pt>
              </c:strCache>
            </c:strRef>
          </c:tx>
          <c:spPr>
            <a:solidFill>
              <a:srgbClr val="D0130D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13.10</c:v>
                </c:pt>
                <c:pt idx="1">
                  <c:v>14.10</c:v>
                </c:pt>
                <c:pt idx="2">
                  <c:v>15.10</c:v>
                </c:pt>
                <c:pt idx="3">
                  <c:v>16.10</c:v>
                </c:pt>
                <c:pt idx="4">
                  <c:v>17.10</c:v>
                </c:pt>
                <c:pt idx="5">
                  <c:v>18.10</c:v>
                </c:pt>
                <c:pt idx="6">
                  <c:v>19.10</c:v>
                </c:pt>
                <c:pt idx="7">
                  <c:v>20.10</c:v>
                </c:pt>
                <c:pt idx="8">
                  <c:v>21.10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6</c:v>
                </c:pt>
                <c:pt idx="8">
                  <c:v>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2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 val="0"/>
        <c:axPos val="l"/>
        <c:majorGridlines>
          <c:spPr>
            <a:ln>
              <a:solidFill>
                <a:srgbClr val="E8E8E4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3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" cy="361188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9728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D0130D"/>
                </a:solidFill>
                <a:latin typeface="Arial"/>
              </a:rPr>
              <a:t>GOOGLE ADS / ДАСТО - СТО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ДАСТО: столбики</a:t>
            </a:r>
          </a:p>
          <a:p>
            <a:pPr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по каждой кампании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154680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>
                <a:solidFill>
                  <a:srgbClr val="E6E6E6"/>
                </a:solidFill>
                <a:latin typeface="Arial"/>
              </a:rPr>
              <a:t>4 кампании · 8–21 октября 2026</a:t>
            </a:r>
          </a:p>
          <a:p>
            <a:pPr>
              <a:spcAft>
                <a:spcPts val="0"/>
              </a:spcAft>
            </a:pPr>
            <a:r>
              <a:rPr sz="1700" b="0">
                <a:solidFill>
                  <a:srgbClr val="E6E6E6"/>
                </a:solidFill>
                <a:latin typeface="Arial"/>
              </a:rPr>
              <a:t>аукцион, потери, звонки, CPA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709160"/>
            <a:ext cx="4572000" cy="18288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7375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9B9B9"/>
                </a:solidFill>
                <a:latin typeface="Arial"/>
              </a:rPr>
              <a:t>Подготовлено 22.10.2026 · в аккаунте ничего не менял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ГЛАВНОЕ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Что видно по столбикам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879" y="1143000"/>
            <a:ext cx="148132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0031" y="118872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031" y="1664207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звонков 13–21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9647" y="1143000"/>
            <a:ext cx="148132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2799" y="118872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$3,82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2799" y="1664207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CPA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2415" y="1143000"/>
            <a:ext cx="148132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5567" y="118872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$179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5567" y="1664207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расход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5183" y="1143000"/>
            <a:ext cx="148132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8335" y="118872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530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8335" y="1664207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кликов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27951" y="1143000"/>
            <a:ext cx="148132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1103" y="118872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1103" y="1664207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звонков 30 дн.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0719" y="1143000"/>
            <a:ext cx="148132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3871" y="118872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$4,62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3871" y="1664207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CPA 30 дн.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73487" y="1143000"/>
            <a:ext cx="148132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6639" y="118872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$0,01→$33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6639" y="1664207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рост расхода/день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148840"/>
            <a:ext cx="54864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8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Каждый слайд ниже — одна кампания: по дням видно, где теряем бюджет, где ранг, где мы в топе.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8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Развал: бюджет — главный ограничитель, 30–52% потерь по бюджету. Поднять бюджет — первый шаг.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8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СТО: главный ограничитель — ранг, 37–39%. Бюджет уже почти не режет. Сначала LP/QS и ставки.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8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Регулировка: бюджет 0%, ранг 33%. Только качество/ставка.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800">
                <a:solidFill>
                  <a:srgbClr val="D0130D"/>
                </a:solidFill>
                <a:latin typeface="Arial"/>
              </a:rPr>
              <a:t>●  </a:t>
            </a:r>
            <a:r>
              <a:rPr sz="1000">
                <a:solidFill>
                  <a:srgbClr val="17181A"/>
                </a:solidFill>
                <a:latin typeface="Arial"/>
              </a:rPr>
              <a:t>Проточка: ранг 33–40%, но мало объёма: 7 кликов за неделю.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148840"/>
            <a:ext cx="544068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23317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50" b="1">
                <a:solidFill>
                  <a:srgbClr val="D0130D"/>
                </a:solidFill>
                <a:latin typeface="Arial"/>
              </a:rPr>
              <a:t>КАК ЧИТАТЬ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2633472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Аукцион: чёрный столбик — доля показов (выкуп), красный — потеря по бюджету, серый — потеря по рангу. В сумме 100%.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Топ страницы — показ в верхнем блоке; абсолютный топ — самая первая позиция. Вам нужен топ страницы 70–80%, не абсолютный топ.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Звонки — «исходящий клик» по номеру. CPA — расход / звонки; в дни без звонков CPA нет.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ДАШБОРД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Вся картина: аукцион → звонки → CPA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188720"/>
          <a:ext cx="1115568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3703320"/>
          <a:ext cx="361188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251960" y="3703320"/>
          <a:ext cx="3611880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001000" y="3703320"/>
          <a:ext cx="3611880" cy="22402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20" b="0">
                <a:solidFill>
                  <a:srgbClr val="6E6E73"/>
                </a:solidFill>
                <a:latin typeface="Arial"/>
              </a:rPr>
              <a:t>Верх — аукцион: чёрный получено, красный бюджет, серый ранг. Низ — звонки, CPA и где показываемся. Один столбик = день.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РАЗВАЛ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Развал-схождение: бюджет — главный рычаг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879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0031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031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звонков 13–21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9647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2799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$3.78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2799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цена звонка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2415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5567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5567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расход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5183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8335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51%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8335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доля показов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27951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1103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43%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1103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потеря по бюджету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0719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3871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3871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потеря по рангу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73487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6639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40% / 12%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6639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топ / абс. топ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73736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60" b="1">
                <a:solidFill>
                  <a:srgbClr val="D0130D"/>
                </a:solidFill>
                <a:latin typeface="Arial"/>
              </a:rPr>
              <a:t>ЧТО ЧИНИТЬ: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173736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0">
                <a:solidFill>
                  <a:srgbClr val="4A4A4E"/>
                </a:solidFill>
                <a:latin typeface="Arial"/>
              </a:rPr>
              <a:t>Бюджет +20–30% → +3 звонка/нед; QS «развал схождение» 3 — усилить страницу и заголовки.</a:t>
            </a:r>
          </a:p>
        </p:txBody>
      </p:sp>
      <p:pic>
        <p:nvPicPr>
          <p:cNvPr id="30" name="Picture 29" descr="camp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11155680" cy="2487168"/>
          </a:xfrm>
          <a:prstGeom prst="rect">
            <a:avLst/>
          </a:prstGeom>
        </p:spPr>
      </p:pic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2920" y="4663440"/>
          <a:ext cx="11109960" cy="1709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011680"/>
                <a:gridCol w="2011680"/>
                <a:gridCol w="2011680"/>
                <a:gridCol w="2011680"/>
                <a:gridCol w="201168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Дата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Получено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Ранг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Топ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Абс.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08.10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51%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09.10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26%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12.10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39%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13.10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52%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39%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14.10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15.10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16.10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19.10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49%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39%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20.10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45%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21.10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21%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19%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СТО - ПО МАРКАМ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СТО-По маркам: ранг, а не бюджет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879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0031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031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звонков 13–21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9647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2799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$3.24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2799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цена звонка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2415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5567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5567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расход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5183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8335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46%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8335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доля показов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27951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1103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14%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1103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потеря по бюджету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0719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3871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39%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3871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потеря по рангу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73487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6639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38% / 12%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6639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топ / абс. топ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73736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60" b="1">
                <a:solidFill>
                  <a:srgbClr val="D0130D"/>
                </a:solidFill>
                <a:latin typeface="Arial"/>
              </a:rPr>
              <a:t>ЧТО ЧИНИТЬ: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173736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0">
                <a:solidFill>
                  <a:srgbClr val="4A4A4E"/>
                </a:solidFill>
                <a:latin typeface="Arial"/>
              </a:rPr>
              <a:t>Ранг 39%: страница/блоки топ-5 марок + ставки на брендовые ключи; бюджет — после LP/QS.</a:t>
            </a:r>
          </a:p>
        </p:txBody>
      </p:sp>
      <p:pic>
        <p:nvPicPr>
          <p:cNvPr id="30" name="Picture 29" descr="cam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11155680" cy="2487168"/>
          </a:xfrm>
          <a:prstGeom prst="rect">
            <a:avLst/>
          </a:prstGeom>
        </p:spPr>
      </p:pic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2920" y="4663440"/>
          <a:ext cx="11109960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011680"/>
                <a:gridCol w="2011680"/>
                <a:gridCol w="2011680"/>
                <a:gridCol w="2011680"/>
                <a:gridCol w="201168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Дата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Получено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Ранг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Топ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Абс.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12.10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13.10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14.10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15.10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46%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37%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16.10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39%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21%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19.10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51%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49%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20.10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21.10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РЕГУЛИРОВКА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Регулировка фар: ранг, бюджет не трогать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879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0031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031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звонков 13–21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9647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2799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$3.83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2799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цена звонка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2415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5567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5567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расход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5183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8335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8335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доля показов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27951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1103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1103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потеря по бюджету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0719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3871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33%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3871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потеря по рангу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73487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6639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50% / 27%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6639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топ / абс. топ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73736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60" b="1">
                <a:solidFill>
                  <a:srgbClr val="D0130D"/>
                </a:solidFill>
                <a:latin typeface="Arial"/>
              </a:rPr>
              <a:t>ЧТО ЧИНИТЬ: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173736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0">
                <a:solidFill>
                  <a:srgbClr val="4A4A4E"/>
                </a:solidFill>
                <a:latin typeface="Arial"/>
              </a:rPr>
              <a:t>Бюджет 0; QS/LP «регулировка фар»; цель CPA &lt; $4,5 и топ страницы 60–70%.</a:t>
            </a:r>
          </a:p>
        </p:txBody>
      </p:sp>
      <p:pic>
        <p:nvPicPr>
          <p:cNvPr id="30" name="Picture 29" descr="cam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11155680" cy="2487168"/>
          </a:xfrm>
          <a:prstGeom prst="rect">
            <a:avLst/>
          </a:prstGeom>
        </p:spPr>
      </p:pic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2920" y="4663440"/>
          <a:ext cx="11109960" cy="1709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011680"/>
                <a:gridCol w="2011680"/>
                <a:gridCol w="2011680"/>
                <a:gridCol w="2011680"/>
                <a:gridCol w="201168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Дата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Получено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Ранг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Топ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Абс.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08.10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09.10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12.10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13.10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14.10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26%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15.10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16.10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49%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19.10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21%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20.10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58%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21.10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ПРОТОЧКА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Проточка: мало объёма, не бюджет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879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0031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031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звонков 13–21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9647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2799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$14.95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2799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цена звонка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82415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5567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5567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расход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5183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8335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8335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доля показов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27951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1103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1103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потеря по бюджету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0719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3871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33%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3871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потеря по рангу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73487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6639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61% / 11%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6639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топ / абс. топ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173736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60" b="1">
                <a:solidFill>
                  <a:srgbClr val="D0130D"/>
                </a:solidFill>
                <a:latin typeface="Arial"/>
              </a:rPr>
              <a:t>ЧТО ЧИНИТЬ: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173736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0">
                <a:solidFill>
                  <a:srgbClr val="4A4A4E"/>
                </a:solidFill>
                <a:latin typeface="Arial"/>
              </a:rPr>
              <a:t>Объём: расширить ключи/объявления и поднять ставку/IS; бюджет не трогать; CPA &lt; $6.</a:t>
            </a:r>
          </a:p>
        </p:txBody>
      </p:sp>
      <p:pic>
        <p:nvPicPr>
          <p:cNvPr id="30" name="Picture 29" descr="cam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11155680" cy="2487168"/>
          </a:xfrm>
          <a:prstGeom prst="rect">
            <a:avLst/>
          </a:prstGeom>
        </p:spPr>
      </p:pic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2920" y="4663440"/>
          <a:ext cx="11109960" cy="1709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011680"/>
                <a:gridCol w="2011680"/>
                <a:gridCol w="2011680"/>
                <a:gridCol w="2011680"/>
                <a:gridCol w="201168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Дата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Получено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Ранг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Топ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40" b="1">
                          <a:solidFill>
                            <a:srgbClr val="FFFFFF"/>
                          </a:solidFill>
                          <a:latin typeface="Arial"/>
                        </a:rPr>
                        <a:t>Абс.</a:t>
                      </a:r>
                    </a:p>
                  </a:txBody>
                  <a:tcPr marL="45720" marR="45720" marT="0" marB="0" anchor="ctr">
                    <a:solidFill>
                      <a:srgbClr val="17181A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08.10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09.10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91%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12.10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13.10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14.10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15.10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16.10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19.10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20.10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37%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21.10</a:t>
                      </a:r>
                    </a:p>
                  </a:txBody>
                  <a:tcPr marL="45720" marR="45720" marT="0" marB="0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0" marB="0" anchor="ctr">
                    <a:solidFill>
                      <a:srgbClr val="DDF0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42%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 marL="45720" marR="45720" marT="0" marB="0" anchor="ctr">
                    <a:solidFill>
                      <a:srgbClr val="FCE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0">
                          <a:solidFill>
                            <a:srgbClr val="17181A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0" marB="0" anchor="ctr">
                    <a:solidFill>
                      <a:srgbClr val="F8D7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ЧАСЫ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Когда звонят: разбивка по времени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188720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9480" y="1188720"/>
          <a:ext cx="3566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82296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Час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Звонки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CR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09:00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7.7%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10:00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4.7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6.1%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11:00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10.3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14.4%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12:00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5.6%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13:00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8.0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11.8%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14:00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7.0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12.7%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15:00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9.3%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16:00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6.0%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17:00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4.8%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18:00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532120"/>
            <a:ext cx="6537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20" b="0">
                <a:solidFill>
                  <a:srgbClr val="6E6E73"/>
                </a:solidFill>
                <a:latin typeface="Arial"/>
              </a:rPr>
              <a:t>Пик 11:00 — 10,3 звонка, CR 14,4%. 9–14 — 39 из 47 звонков (83%). 18:00 — 0. Данных 9 дней: это наблюдение, не вывод.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516636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20" b="0">
                <a:solidFill>
                  <a:srgbClr val="6E6E73"/>
                </a:solidFill>
                <a:latin typeface="Arial"/>
              </a:rPr>
              <a:t>После 16:00 спад. 17:00 — 1 звонок, 18:00 — 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ОБЪЯВЛЕНИЯ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CTR по объявлениям: где попали в боль, где просели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D0130D"/>
                </a:solidFill>
                <a:latin typeface="Arial"/>
              </a:rPr>
              <a:t>СИЛЬНЫЕ: CTR 14–27%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81328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685800"/>
                <a:gridCol w="594360"/>
                <a:gridCol w="5943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Объявление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CTR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Звонки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СТО-По маркам · Opel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27.1%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СТО-По маркам · Ford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18.7%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СТО-По маркам · Hyundai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18.2%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Регулировка · Регулировка фар в Минске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18.0%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10.2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СТО-По маркам · Peugeot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17.6%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188720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9A9A9E"/>
                </a:solidFill>
                <a:latin typeface="Arial"/>
              </a:rPr>
              <a:t>СЛАБЫЕ: CTR 7–10%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481328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685800"/>
                <a:gridCol w="594360"/>
                <a:gridCol w="5943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Объявление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CTR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Звонки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Развал · Сход-развал в Минске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9.6%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Развал · 3D развал-схождение в Минске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9.5%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СТО-По маркам · BMW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9.5%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Проточка · Проточка тормозных дисков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8.4%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СТО-По маркам · Mercedes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7.5%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40" b="0">
                          <a:solidFill>
                            <a:srgbClr val="17181A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0690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D0130D"/>
                </a:solidFill>
                <a:latin typeface="Arial"/>
              </a:rPr>
              <a:t>ЧТО ВИДНО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70832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Opel 27,1% (5 звонков), Ford 18,7%, Hyundai 18,2% — бренд + «диагностика 0 BYN» работают.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Mercedes 7,5% (0 звонков), BMW 9,5%, Проточка 8,4% — CTR просел.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Peugeot 17,6% и Renault 14,0%, но 0 звонков: клик есть, звонка нет.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370832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Цена в заголовке ≠ цена в описании: Проточка «от 45 BYN» / «от 35 BYN»; Развал «от 60» / «от 40–80». Это режет доверие.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Проточка: 368 показов, 31 клик, 1 звонок. Свести цену к одной и проверить оффер.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Peugeot/Renault: высокий CTR, 0 звонков — проблема в посадочной, не в объявлении.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СТО ПО МАРКАМ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Страница под марки: что именно править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571500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715000" cy="365760"/>
          </a:xfrm>
          <a:prstGeom prst="rect">
            <a:avLst/>
          </a:prstGeom>
          <a:solidFill>
            <a:srgbClr val="17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43584"/>
            <a:ext cx="53949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rial"/>
              </a:rPr>
              <a:t>СТО ПО МАРКАМ В МИНСКЕ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82496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19" b="1">
                <a:solidFill>
                  <a:srgbClr val="D0130D"/>
                </a:solidFill>
                <a:latin typeface="Arial"/>
              </a:rPr>
              <a:t>Renault · Peugeot · Citroen · Opel · Ford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56816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80" b="0">
                <a:solidFill>
                  <a:srgbClr val="4A4A4E"/>
                </a:solidFill>
                <a:latin typeface="Arial"/>
              </a:rPr>
              <a:t>Ремонт и диагностика по маркам. Цены известны до начала. Гарантия.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60320"/>
            <a:ext cx="914400" cy="292608"/>
          </a:xfrm>
          <a:prstGeom prst="roundRect">
            <a:avLst/>
          </a:prstGeom>
          <a:solidFill>
            <a:srgbClr val="EFEFEC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61518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660" b="1">
                <a:solidFill>
                  <a:srgbClr val="17181A"/>
                </a:solidFill>
                <a:latin typeface="Arial"/>
              </a:rPr>
              <a:t>Renault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64208" y="2560320"/>
            <a:ext cx="914400" cy="292608"/>
          </a:xfrm>
          <a:prstGeom prst="roundRect">
            <a:avLst/>
          </a:prstGeom>
          <a:solidFill>
            <a:srgbClr val="EFEFEC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0784" y="261518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660" b="1">
                <a:solidFill>
                  <a:srgbClr val="17181A"/>
                </a:solidFill>
                <a:latin typeface="Arial"/>
              </a:rPr>
              <a:t>Peugeot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70048" y="2560320"/>
            <a:ext cx="914400" cy="292608"/>
          </a:xfrm>
          <a:prstGeom prst="roundRect">
            <a:avLst/>
          </a:prstGeom>
          <a:solidFill>
            <a:srgbClr val="EFEFEC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261518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660" b="1">
                <a:solidFill>
                  <a:srgbClr val="17181A"/>
                </a:solidFill>
                <a:latin typeface="Arial"/>
              </a:rPr>
              <a:t>Citroen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75888" y="2560320"/>
            <a:ext cx="914400" cy="292608"/>
          </a:xfrm>
          <a:prstGeom prst="roundRect">
            <a:avLst/>
          </a:prstGeom>
          <a:solidFill>
            <a:srgbClr val="EFEFEC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2464" y="261518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660" b="1">
                <a:solidFill>
                  <a:srgbClr val="17181A"/>
                </a:solidFill>
                <a:latin typeface="Arial"/>
              </a:rPr>
              <a:t>Opel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81728" y="2560320"/>
            <a:ext cx="914400" cy="292608"/>
          </a:xfrm>
          <a:prstGeom prst="roundRect">
            <a:avLst/>
          </a:prstGeom>
          <a:solidFill>
            <a:srgbClr val="EFEFEC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8304" y="261518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660" b="1">
                <a:solidFill>
                  <a:srgbClr val="17181A"/>
                </a:solidFill>
                <a:latin typeface="Arial"/>
              </a:rPr>
              <a:t>Ford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999232"/>
            <a:ext cx="1627632" cy="1325880"/>
          </a:xfrm>
          <a:prstGeom prst="roundRect">
            <a:avLst/>
          </a:prstGeom>
          <a:solidFill>
            <a:srgbClr val="F7F7F5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19" y="3072384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1">
                <a:solidFill>
                  <a:srgbClr val="D0130D"/>
                </a:solidFill>
                <a:latin typeface="Arial"/>
              </a:rPr>
              <a:t>Renault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" y="3291840"/>
            <a:ext cx="148132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630" b="0">
                <a:solidFill>
                  <a:srgbClr val="4A4A4E"/>
                </a:solidFill>
                <a:latin typeface="Arial"/>
              </a:rPr>
              <a:t>Модели</a:t>
            </a:r>
          </a:p>
          <a:p>
            <a:pPr>
              <a:spcAft>
                <a:spcPts val="0"/>
              </a:spcAft>
            </a:pPr>
            <a:r>
              <a:rPr sz="630" b="0">
                <a:solidFill>
                  <a:srgbClr val="4A4A4E"/>
                </a:solidFill>
                <a:latin typeface="Arial"/>
              </a:rPr>
              <a:t>3 услуги + цены</a:t>
            </a:r>
          </a:p>
          <a:p>
            <a:pPr>
              <a:spcAft>
                <a:spcPts val="0"/>
              </a:spcAft>
            </a:pPr>
            <a:r>
              <a:rPr sz="630" b="0">
                <a:solidFill>
                  <a:srgbClr val="4A4A4E"/>
                </a:solidFill>
                <a:latin typeface="Arial"/>
              </a:rPr>
              <a:t>отзыв</a:t>
            </a:r>
          </a:p>
          <a:p>
            <a:pPr>
              <a:spcAft>
                <a:spcPts val="0"/>
              </a:spcAft>
            </a:pPr>
            <a:r>
              <a:rPr sz="630" b="0">
                <a:solidFill>
                  <a:srgbClr val="4A4A4E"/>
                </a:solidFill>
                <a:latin typeface="Arial"/>
              </a:rPr>
              <a:t>фото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14015" y="2999232"/>
            <a:ext cx="1627632" cy="1325880"/>
          </a:xfrm>
          <a:prstGeom prst="roundRect">
            <a:avLst/>
          </a:prstGeom>
          <a:solidFill>
            <a:srgbClr val="F7F7F5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87168" y="3072384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1">
                <a:solidFill>
                  <a:srgbClr val="D0130D"/>
                </a:solidFill>
                <a:latin typeface="Arial"/>
              </a:rPr>
              <a:t>Peugeot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3291840"/>
            <a:ext cx="148132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630" b="0">
                <a:solidFill>
                  <a:srgbClr val="4A4A4E"/>
                </a:solidFill>
                <a:latin typeface="Arial"/>
              </a:rPr>
              <a:t>Модели</a:t>
            </a:r>
          </a:p>
          <a:p>
            <a:pPr>
              <a:spcAft>
                <a:spcPts val="0"/>
              </a:spcAft>
            </a:pPr>
            <a:r>
              <a:rPr sz="630" b="0">
                <a:solidFill>
                  <a:srgbClr val="4A4A4E"/>
                </a:solidFill>
                <a:latin typeface="Arial"/>
              </a:rPr>
              <a:t>3 услуги + цены</a:t>
            </a:r>
          </a:p>
          <a:p>
            <a:pPr>
              <a:spcAft>
                <a:spcPts val="0"/>
              </a:spcAft>
            </a:pPr>
            <a:r>
              <a:rPr sz="630" b="0">
                <a:solidFill>
                  <a:srgbClr val="4A4A4E"/>
                </a:solidFill>
                <a:latin typeface="Arial"/>
              </a:rPr>
              <a:t>отзыв</a:t>
            </a:r>
          </a:p>
          <a:p>
            <a:pPr>
              <a:spcAft>
                <a:spcPts val="0"/>
              </a:spcAft>
            </a:pPr>
            <a:r>
              <a:rPr sz="630" b="0">
                <a:solidFill>
                  <a:srgbClr val="4A4A4E"/>
                </a:solidFill>
                <a:latin typeface="Arial"/>
              </a:rPr>
              <a:t>фото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9663" y="2999232"/>
            <a:ext cx="1627632" cy="1325880"/>
          </a:xfrm>
          <a:prstGeom prst="roundRect">
            <a:avLst/>
          </a:prstGeom>
          <a:solidFill>
            <a:srgbClr val="F7F7F5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42816" y="3072384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1">
                <a:solidFill>
                  <a:srgbClr val="D0130D"/>
                </a:solidFill>
                <a:latin typeface="Arial"/>
              </a:rPr>
              <a:t>Citroen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42816" y="3291840"/>
            <a:ext cx="148132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630" b="0">
                <a:solidFill>
                  <a:srgbClr val="4A4A4E"/>
                </a:solidFill>
                <a:latin typeface="Arial"/>
              </a:rPr>
              <a:t>Модели</a:t>
            </a:r>
          </a:p>
          <a:p>
            <a:pPr>
              <a:spcAft>
                <a:spcPts val="0"/>
              </a:spcAft>
            </a:pPr>
            <a:r>
              <a:rPr sz="630" b="0">
                <a:solidFill>
                  <a:srgbClr val="4A4A4E"/>
                </a:solidFill>
                <a:latin typeface="Arial"/>
              </a:rPr>
              <a:t>3 услуги + цены</a:t>
            </a:r>
          </a:p>
          <a:p>
            <a:pPr>
              <a:spcAft>
                <a:spcPts val="0"/>
              </a:spcAft>
            </a:pPr>
            <a:r>
              <a:rPr sz="630" b="0">
                <a:solidFill>
                  <a:srgbClr val="4A4A4E"/>
                </a:solidFill>
                <a:latin typeface="Arial"/>
              </a:rPr>
              <a:t>отзыв</a:t>
            </a:r>
          </a:p>
          <a:p>
            <a:pPr>
              <a:spcAft>
                <a:spcPts val="0"/>
              </a:spcAft>
            </a:pPr>
            <a:r>
              <a:rPr sz="630" b="0">
                <a:solidFill>
                  <a:srgbClr val="4A4A4E"/>
                </a:solidFill>
                <a:latin typeface="Arial"/>
              </a:rPr>
              <a:t>фото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4622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20" b="1">
                <a:solidFill>
                  <a:srgbClr val="17181A"/>
                </a:solidFill>
                <a:latin typeface="Arial"/>
              </a:rPr>
              <a:t>Цены и пакеты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69087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640" b="0">
                <a:solidFill>
                  <a:srgbClr val="4A4A4E"/>
                </a:solidFill>
                <a:latin typeface="Arial"/>
              </a:rPr>
              <a:t>Диагностика 0 BYN</a:t>
            </a:r>
          </a:p>
          <a:p>
            <a:pPr>
              <a:spcAft>
                <a:spcPts val="0"/>
              </a:spcAft>
            </a:pPr>
            <a:r>
              <a:rPr sz="640" b="0">
                <a:solidFill>
                  <a:srgbClr val="4A4A4E"/>
                </a:solidFill>
                <a:latin typeface="Arial"/>
              </a:rPr>
              <a:t>ТО / тормоза / подвеска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4622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20" b="1">
                <a:solidFill>
                  <a:srgbClr val="17181A"/>
                </a:solidFill>
                <a:latin typeface="Arial"/>
              </a:rPr>
              <a:t>Отзывы и FAQ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690872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640" b="0">
                <a:solidFill>
                  <a:srgbClr val="4A4A4E"/>
                </a:solidFill>
                <a:latin typeface="Arial"/>
              </a:rPr>
              <a:t>2–3 отзыва по марке</a:t>
            </a:r>
          </a:p>
          <a:p>
            <a:pPr>
              <a:spcAft>
                <a:spcPts val="0"/>
              </a:spcAft>
            </a:pPr>
            <a:r>
              <a:rPr sz="640" b="0">
                <a:solidFill>
                  <a:srgbClr val="4A4A4E"/>
                </a:solidFill>
                <a:latin typeface="Arial"/>
              </a:rPr>
              <a:t>5 вопросов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28523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20" b="1">
                <a:solidFill>
                  <a:srgbClr val="D0130D"/>
                </a:solidFill>
                <a:latin typeface="Arial"/>
              </a:rPr>
              <a:t>Форма + телефон в первом экране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118872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H1: «СТО по маркам в Минске» + подзаголовок с 5 брендами. Сейчас H1 общий, брендов нет.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Табы/блоки по топ-5: Renault, Peugeot, Citroen, Opel, Ford. В каждом — модели, 3 услуги с ценами, отзыв, фото.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Цены и пакеты: диагностика 0 BYN, ТО, тормоза, подвеска. Не прятать цену.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Отзывы по марке + FAQ: 5 вопросов, schema FAQ.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Форма и телефон в первом экране; кнопка «Позвонить» на мобиле.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Не делать 19 страниц. Одна страница с 5 блоками; тест 2 недели, потом остальные марки.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5961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0">
                <a:solidFill>
                  <a:srgbClr val="6E6E73"/>
                </a:solidFill>
                <a:latin typeface="Arial"/>
              </a:rPr>
              <a:t>Сейчас: 19 объявлений на главную, 77 ключей с LP ниже среднего.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ПРИРОСТ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Сколько может дать бюджет, а сколько — ранг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97840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68680"/>
                <a:gridCol w="1051560"/>
                <a:gridCol w="1691640"/>
                <a:gridCol w="1097280"/>
                <a:gridCol w="1143000"/>
                <a:gridCol w="1143000"/>
                <a:gridCol w="11430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Рычаг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Сейчас/день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Сценарий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+клики/день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+звонки/день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+звонки/нед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+расход/день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Развал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1,71 звонка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lostB 42,6% → 30%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+4,9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+0,42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+3,0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+$1,60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Развал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1,71 звонка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lostB 42,6% → 0%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+16,5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+1,43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+10,0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+$5,41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Бюджет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2,71 звонка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lostB 14,4% → 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+9,6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+0,84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+5,9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+$2,73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Ранг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2,71 звонка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lostR 39,2% → 25%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+9,5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+0,83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+5,8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+$2,70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Регулировка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Ранг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2,14 звонка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lostR 32,7% → 20%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+4,3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+0,45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+3,2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+$1,74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Проточка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Ранг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0,14 звонка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lostR 32,7% → 25%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+0,5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+0,02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+0,1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7181A"/>
                          </a:solidFill>
                          <a:latin typeface="Arial"/>
                        </a:rPr>
                        <a:t>+$0,25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069080"/>
            <a:ext cx="11155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Развал: бюджет — реальный рычаг. +3 звонка/нед при lostB до 30%; +10/нед только при снятии лимита (нереалистично).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СТО: за 13–21 бюджет и ранг дают ~по +6/нед; но сейчас бюджет 6,2% → подъём бюджета даст ~2–3/нед, ранг 36,6% → ~6/нед. Сначала LP/QS.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Регулировка: бюджет 0, только ранг: +2–3/нед. Проточка: ранг +0,1/нед — сначала объём.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Оценка при сохранении CTR/CR/CPC; не гарантия.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РАНГ И 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Почему теряем ранг и что чинить на страницах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4864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Ранг = Ad Rank: ставка × Quality Score + активы. «Потеря по рангу» — вас обошли по ставке/качеству, а не по бюджету.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СТО: QS 6,42, но 77 ключей с LP ниже среднего; 19 объявлений на главную; на главной нет Renault, Peugeot, Citroen — только VW/BMW. Человек ищет «СТО Renault», а видит общую страницу.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Конкуренты: tonymotors обходит в 84,3% пересечений, nv-service — 45,9%. Ставка $0,28 низкая для брендовых аукционов.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Регулировка: QS 5,38, 13 ключей с LP ниже; страница сильная (1000 слов, цены, отзывы, FAQ, 3 формы), но ad relevance/ставка слабее. Бюджет 0 — поднимать бессмысленно.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188720"/>
            <a:ext cx="53949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LP = landing page. Сервисные страницы сильные: H1, цена, процесс, отзывы, FAQ, 3 формы, 19 изображений, ~1000 слов. Переделывать с нуля не надо.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Главная: 1603 слова, 74 изображения, 4 формы — но бренды только VW/BMW. Для 19 брендовых запросов это нерелевантно.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Что сделать: страница «СТО по маркам» или брендовые блоки для топ-5 (Renault, Peugeot, Citroen, Opel, Ford): модели, услуги, цены, мастера, отзывы, фото. Одна страница — тест, не 19 сразу.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Для сервисных страниц: H1 с точной фразой, цена выше, schema FAQ, мобильная скорость, форма в первом экране. Цель — топ страницы 70–80%, не абсолютный топ.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АУКЦИОН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Аукцион за 30 дней: мы первые по доле, но не по абсолютному топу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6812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731520"/>
                <a:gridCol w="777240"/>
                <a:gridCol w="731520"/>
                <a:gridCol w="731520"/>
                <a:gridCol w="82296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Конкурент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Доля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Пересеч.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Выше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Топ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Абс. топ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Выигрыши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181A"/>
                          </a:solidFill>
                          <a:latin typeface="Arial"/>
                        </a:rPr>
                        <a:t>Вы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7181A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7181A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7181A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развал-схождение.бел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52,7%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carlife.by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43,2%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autoprofi.by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34,3%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venimotors.by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90,1%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vsesto.by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73,1%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7181A"/>
                          </a:solidFill>
                          <a:latin typeface="Arial"/>
                        </a:rPr>
                        <a:t>44,0%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1188720"/>
          <a:ext cx="3886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85800"/>
                <a:gridCol w="82296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СТО-По маркам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Доля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Выше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Абс. топ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7181A"/>
                          </a:solidFill>
                          <a:latin typeface="Arial"/>
                        </a:rPr>
                        <a:t>Вы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17181A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17181A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45720" marR="36576" marT="9144" marB="9144" anchor="ctr">
                    <a:solidFill>
                      <a:srgbClr val="FBE9E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tonymotors.by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nv-service.by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vsesto.by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0">
                          <a:solidFill>
                            <a:srgbClr val="17181A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572000"/>
            <a:ext cx="111556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У нас 45,3% показов, но абсолютный топ 29,0% против 40,3% у venimotors и 34,3% у autoprofi.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Конкуренты обходят в 52–68% пересечений: мы на странице, но не выше них. Это и есть потеря по рангу.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19">
                <a:solidFill>
                  <a:srgbClr val="D0130D"/>
                </a:solidFill>
                <a:latin typeface="Arial"/>
              </a:rPr>
              <a:t>●  </a:t>
            </a:r>
            <a:r>
              <a:rPr sz="919">
                <a:solidFill>
                  <a:srgbClr val="17181A"/>
                </a:solidFill>
                <a:latin typeface="Arial"/>
              </a:rPr>
              <a:t>Абсолютный топ не цель: цель — топ страницы 70–80%. Рост — через QS/ставку на «развал» и «регулировку», не через бюджет.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72200"/>
            <a:ext cx="11155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0">
                <a:solidFill>
                  <a:srgbClr val="6E6E73"/>
                </a:solidFill>
                <a:latin typeface="Arial"/>
              </a:rPr>
              <a:t>30 дней, UI. Дневные имена конкурентов API не отдаёт; дневные столбики выше — наши IS/top/abs.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ПЛАН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Что делать: по одной кампании, без «всё сразу»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697480" cy="388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2697480" cy="73152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44475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17181A"/>
                </a:solidFill>
                <a:latin typeface="Arial"/>
              </a:rPr>
              <a:t>РАЗВАЛ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70078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1">
                <a:solidFill>
                  <a:srgbClr val="D0130D"/>
                </a:solidFill>
                <a:latin typeface="Arial"/>
              </a:rPr>
              <a:t>БЮДЖЕТ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011680"/>
            <a:ext cx="2423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00">
                <a:solidFill>
                  <a:srgbClr val="D0130D"/>
                </a:solidFill>
                <a:latin typeface="Arial"/>
              </a:rPr>
              <a:t>●  </a:t>
            </a:r>
            <a:r>
              <a:rPr sz="800">
                <a:solidFill>
                  <a:srgbClr val="17181A"/>
                </a:solidFill>
                <a:latin typeface="Arial"/>
              </a:rPr>
              <a:t>+20–30% бюджета: lostB 42,6% → 30%.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00">
                <a:solidFill>
                  <a:srgbClr val="D0130D"/>
                </a:solidFill>
                <a:latin typeface="Arial"/>
              </a:rPr>
              <a:t>●  </a:t>
            </a:r>
            <a:r>
              <a:rPr sz="800">
                <a:solidFill>
                  <a:srgbClr val="17181A"/>
                </a:solidFill>
                <a:latin typeface="Arial"/>
              </a:rPr>
              <a:t>+3 звонка/нед, +$1,6/день.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00">
                <a:solidFill>
                  <a:srgbClr val="D0130D"/>
                </a:solidFill>
                <a:latin typeface="Arial"/>
              </a:rPr>
              <a:t>●  </a:t>
            </a:r>
            <a:r>
              <a:rPr sz="800">
                <a:solidFill>
                  <a:srgbClr val="17181A"/>
                </a:solidFill>
                <a:latin typeface="Arial"/>
              </a:rPr>
              <a:t>LP/QS — вторым шагом; цель CPA &lt; $5,5.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280160"/>
            <a:ext cx="2697480" cy="388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280160"/>
            <a:ext cx="2697480" cy="73152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144475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17181A"/>
                </a:solidFill>
                <a:latin typeface="Arial"/>
              </a:rPr>
              <a:t>СТО - ПО МАРКАМ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170078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1">
                <a:solidFill>
                  <a:srgbClr val="D0130D"/>
                </a:solidFill>
                <a:latin typeface="Arial"/>
              </a:rPr>
              <a:t>РАНГ + 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011680"/>
            <a:ext cx="2423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00">
                <a:solidFill>
                  <a:srgbClr val="D0130D"/>
                </a:solidFill>
                <a:latin typeface="Arial"/>
              </a:rPr>
              <a:t>●  </a:t>
            </a:r>
            <a:r>
              <a:rPr sz="800">
                <a:solidFill>
                  <a:srgbClr val="17181A"/>
                </a:solidFill>
                <a:latin typeface="Arial"/>
              </a:rPr>
              <a:t>Страница/блоки топ-5 марок: Renault, Peugeot, Citroen, Opel, Ford.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00">
                <a:solidFill>
                  <a:srgbClr val="D0130D"/>
                </a:solidFill>
                <a:latin typeface="Arial"/>
              </a:rPr>
              <a:t>●  </a:t>
            </a:r>
            <a:r>
              <a:rPr sz="800">
                <a:solidFill>
                  <a:srgbClr val="17181A"/>
                </a:solidFill>
                <a:latin typeface="Arial"/>
              </a:rPr>
              <a:t>Поднять ставки на брендовые ключи.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00">
                <a:solidFill>
                  <a:srgbClr val="D0130D"/>
                </a:solidFill>
                <a:latin typeface="Arial"/>
              </a:rPr>
              <a:t>●  </a:t>
            </a:r>
            <a:r>
              <a:rPr sz="800">
                <a:solidFill>
                  <a:srgbClr val="17181A"/>
                </a:solidFill>
                <a:latin typeface="Arial"/>
              </a:rPr>
              <a:t>Бюджет — после LP/QS; цель CPA &lt; $4,5.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280160"/>
            <a:ext cx="2697480" cy="388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280160"/>
            <a:ext cx="2697480" cy="73152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44475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17181A"/>
                </a:solidFill>
                <a:latin typeface="Arial"/>
              </a:rPr>
              <a:t>РЕГУЛИРОВКА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70078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1">
                <a:solidFill>
                  <a:srgbClr val="D0130D"/>
                </a:solidFill>
                <a:latin typeface="Arial"/>
              </a:rPr>
              <a:t>РАНГ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011680"/>
            <a:ext cx="2423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00">
                <a:solidFill>
                  <a:srgbClr val="D0130D"/>
                </a:solidFill>
                <a:latin typeface="Arial"/>
              </a:rPr>
              <a:t>●  </a:t>
            </a:r>
            <a:r>
              <a:rPr sz="800">
                <a:solidFill>
                  <a:srgbClr val="17181A"/>
                </a:solidFill>
                <a:latin typeface="Arial"/>
              </a:rPr>
              <a:t>Бюджет не трогать: lostB 0%.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00">
                <a:solidFill>
                  <a:srgbClr val="D0130D"/>
                </a:solidFill>
                <a:latin typeface="Arial"/>
              </a:rPr>
              <a:t>●  </a:t>
            </a:r>
            <a:r>
              <a:rPr sz="800">
                <a:solidFill>
                  <a:srgbClr val="17181A"/>
                </a:solidFill>
                <a:latin typeface="Arial"/>
              </a:rPr>
              <a:t>LP/заголовки: QS 5,38, 13 LP ниже.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00">
                <a:solidFill>
                  <a:srgbClr val="D0130D"/>
                </a:solidFill>
                <a:latin typeface="Arial"/>
              </a:rPr>
              <a:t>●  </a:t>
            </a:r>
            <a:r>
              <a:rPr sz="800">
                <a:solidFill>
                  <a:srgbClr val="17181A"/>
                </a:solidFill>
                <a:latin typeface="Arial"/>
              </a:rPr>
              <a:t>Цель +2–3 звонка/нед, CPA &lt; $4,5.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280160"/>
            <a:ext cx="2697480" cy="388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1704" y="1280160"/>
            <a:ext cx="2697480" cy="73152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44475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80" b="1">
                <a:solidFill>
                  <a:srgbClr val="17181A"/>
                </a:solidFill>
                <a:latin typeface="Arial"/>
              </a:rPr>
              <a:t>ПРОТОЧКА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70078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1">
                <a:solidFill>
                  <a:srgbClr val="D0130D"/>
                </a:solidFill>
                <a:latin typeface="Arial"/>
              </a:rPr>
              <a:t>ОБЪЁМ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011680"/>
            <a:ext cx="2423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00">
                <a:solidFill>
                  <a:srgbClr val="D0130D"/>
                </a:solidFill>
                <a:latin typeface="Arial"/>
              </a:rPr>
              <a:t>●  </a:t>
            </a:r>
            <a:r>
              <a:rPr sz="800">
                <a:solidFill>
                  <a:srgbClr val="17181A"/>
                </a:solidFill>
                <a:latin typeface="Arial"/>
              </a:rPr>
              <a:t>Бюджет не трогать: lostB 0%.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00">
                <a:solidFill>
                  <a:srgbClr val="D0130D"/>
                </a:solidFill>
                <a:latin typeface="Arial"/>
              </a:rPr>
              <a:t>●  </a:t>
            </a:r>
            <a:r>
              <a:rPr sz="800">
                <a:solidFill>
                  <a:srgbClr val="17181A"/>
                </a:solidFill>
                <a:latin typeface="Arial"/>
              </a:rPr>
              <a:t>Расширить ключи/объявления.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00">
                <a:solidFill>
                  <a:srgbClr val="D0130D"/>
                </a:solidFill>
                <a:latin typeface="Arial"/>
              </a:rPr>
              <a:t>●  </a:t>
            </a:r>
            <a:r>
              <a:rPr sz="800">
                <a:solidFill>
                  <a:srgbClr val="17181A"/>
                </a:solidFill>
                <a:latin typeface="Arial"/>
              </a:rPr>
              <a:t>Цель 15–20 кликов/нед, CPA &lt; $6.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4068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D0130D"/>
                </a:solidFill>
                <a:latin typeface="Arial"/>
              </a:rPr>
              <a:t>Абсолютный топ не цель. Цель — топ страницы 70–80% и CPA по звонку.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ДАННЫЕ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Что учтено и ограничения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8–21 октября; 17–18 кампании не работали, 22 октября без расхода.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4 активные кампании: Развал, СТО-По маркам, Регулировка, Проточка.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Звонки = «Исходящий клик» (клик по номеру). 13–21: 47; 30 дней: 58.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CPA = расход / звонки; в дни без звонков CPA нет.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Качество — по ключам с данными; у части ключей QS нет.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3444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Дневные IS/top/abs — API. Имена конкурентов и «процент выигрышей» — UI за 30 дней.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Прирост — оценка при сохранении CTR/CR/CPC; не гарантия.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LP-аудит: 4 страницы, H1/H2, объём, формы, бренды. Сервисные страницы сильные, главная — нет.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19 объявлений на главную — только СТО-По маркам; 31 — все, включая паузу.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780">
                <a:solidFill>
                  <a:srgbClr val="D0130D"/>
                </a:solidFill>
                <a:latin typeface="Arial"/>
              </a:rPr>
              <a:t>●  </a:t>
            </a:r>
            <a:r>
              <a:rPr sz="980">
                <a:solidFill>
                  <a:srgbClr val="17181A"/>
                </a:solidFill>
                <a:latin typeface="Arial"/>
              </a:rPr>
              <a:t>В аккаунте ничего не менял.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ЗАКОНОМЕРНОСТИ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6 паттернов, которые не видны в лоб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40" b="0">
                <a:solidFill>
                  <a:srgbClr val="6E6E73"/>
                </a:solidFill>
                <a:latin typeface="Arial"/>
              </a:rPr>
              <a:t>По данным 13–21.10 (47 звонков) + внешний ориентир. Это гипотезы, а не приговор; проверять по одному изменению.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5760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52704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D0130D"/>
                </a:solidFill>
                <a:latin typeface="Arial"/>
              </a:rPr>
              <a:t>46 из 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874519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80" b="1">
                <a:solidFill>
                  <a:srgbClr val="17181A"/>
                </a:solidFill>
                <a:latin typeface="Arial"/>
              </a:rPr>
              <a:t>звонков — с телефона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130552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0">
                <a:solidFill>
                  <a:srgbClr val="4A4A4E"/>
                </a:solidFill>
                <a:latin typeface="Arial"/>
              </a:rPr>
              <a:t>Desktop: 85 кликов → 1 звонок, CR 1,2%. Мобайл: 442 клика → 46 звонков, CR 10,4%.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77063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20" b="1">
                <a:solidFill>
                  <a:srgbClr val="6E6E73"/>
                </a:solidFill>
                <a:latin typeface="Arial"/>
              </a:rPr>
              <a:t>→ Мобайл в приоритет. Десктоп -50% на тест; проверить скорость мобильной.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1417320"/>
            <a:ext cx="365760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152704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D0130D"/>
                </a:solidFill>
                <a:latin typeface="Arial"/>
              </a:rPr>
              <a:t>83%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1874519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80" b="1">
                <a:solidFill>
                  <a:srgbClr val="17181A"/>
                </a:solidFill>
                <a:latin typeface="Arial"/>
              </a:rPr>
              <a:t>звонков с 9 до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2130552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0">
                <a:solidFill>
                  <a:srgbClr val="4A4A4E"/>
                </a:solidFill>
                <a:latin typeface="Arial"/>
              </a:rPr>
              <a:t>11:00 — CR 14,4%; 13–14 — 12–13%; 18:00 — 0 звонков. После 16:00 спад.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277063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20" b="1">
                <a:solidFill>
                  <a:srgbClr val="6E6E73"/>
                </a:solidFill>
                <a:latin typeface="Arial"/>
              </a:rPr>
              <a:t>→ Dayparting: +20–30% 9–14, -20% после 17. Данных 9 дней — наблюдение.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417320"/>
            <a:ext cx="365760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152704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D0130D"/>
                </a:solidFill>
                <a:latin typeface="Arial"/>
              </a:rPr>
              <a:t>0,34 $ / 3,82 $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1874519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80" b="1">
                <a:solidFill>
                  <a:srgbClr val="17181A"/>
                </a:solidFill>
                <a:latin typeface="Arial"/>
              </a:rPr>
              <a:t>клик и звонок — дешевле рынка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2130552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0">
                <a:solidFill>
                  <a:srgbClr val="4A4A4E"/>
                </a:solidFill>
                <a:latin typeface="Arial"/>
              </a:rPr>
              <a:t>Ориентир auto repair: клик ~3,5 $, заявка ~44 $ (CA, 2024–25). У нас 0,34 $ и 3,82 $.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277063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20" b="1">
                <a:solidFill>
                  <a:srgbClr val="6E6E73"/>
                </a:solidFill>
                <a:latin typeface="Arial"/>
              </a:rPr>
              <a:t>→ Экономика сильная; масштабировать шагами, не бояться.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566160"/>
            <a:ext cx="365760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" y="367588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D0130D"/>
                </a:solidFill>
                <a:latin typeface="Arial"/>
              </a:rPr>
              <a:t>45 vs 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4023360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80" b="1">
                <a:solidFill>
                  <a:srgbClr val="17181A"/>
                </a:solidFill>
                <a:latin typeface="Arial"/>
              </a:rPr>
              <a:t>цена в заголовке и описании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79392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0">
                <a:solidFill>
                  <a:srgbClr val="4A4A4E"/>
                </a:solidFill>
                <a:latin typeface="Arial"/>
              </a:rPr>
              <a:t>Проточка: «от 45 BYN» в заголовке, «от 35 BYN» в описании. CTR 8,4%, 1 звонок.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491947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20" b="1">
                <a:solidFill>
                  <a:srgbClr val="6E6E73"/>
                </a:solidFill>
                <a:latin typeface="Arial"/>
              </a:rPr>
              <a:t>→ Свести цену к одной; проверить оффер и доверие.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59" y="3566160"/>
            <a:ext cx="365760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98264" y="367588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D0130D"/>
                </a:solidFill>
                <a:latin typeface="Arial"/>
              </a:rPr>
              <a:t>14–18% /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8264" y="4023360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80" b="1">
                <a:solidFill>
                  <a:srgbClr val="17181A"/>
                </a:solidFill>
                <a:latin typeface="Arial"/>
              </a:rPr>
              <a:t>CTR есть, звонков нет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8264" y="4279392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0">
                <a:solidFill>
                  <a:srgbClr val="4A4A4E"/>
                </a:solidFill>
                <a:latin typeface="Arial"/>
              </a:rPr>
              <a:t>Peugeot 17,6% — 29 кликов, 0 звонков. Renault 14,0% — 16 кликов, 0.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8264" y="491947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20" b="1">
                <a:solidFill>
                  <a:srgbClr val="6E6E73"/>
                </a:solidFill>
                <a:latin typeface="Arial"/>
              </a:rPr>
              <a:t>→ Клик есть, звонка нет: LP/оффер/брендовая страница.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3566160"/>
            <a:ext cx="365760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7304" y="367588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D0130D"/>
                </a:solidFill>
                <a:latin typeface="Arial"/>
              </a:rPr>
              <a:t>+47% / +39%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7304" y="4023360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80" b="1">
                <a:solidFill>
                  <a:srgbClr val="17181A"/>
                </a:solidFill>
                <a:latin typeface="Arial"/>
              </a:rPr>
              <a:t>масштаб → CPA; пауза → ramp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7304" y="4279392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0">
                <a:solidFill>
                  <a:srgbClr val="4A4A4E"/>
                </a:solidFill>
                <a:latin typeface="Arial"/>
              </a:rPr>
              <a:t>Расход/день +47%, CPA +39%. После паузы 2→6→8 звонков.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47304" y="491947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20" b="1">
                <a:solidFill>
                  <a:srgbClr val="6E6E73"/>
                </a:solidFill>
                <a:latin typeface="Arial"/>
              </a:rPr>
              <a:t>→ Шагами; первые 2 дня после паузы не оценивать.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742432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19" b="1">
                <a:solidFill>
                  <a:srgbClr val="D0130D"/>
                </a:solidFill>
                <a:latin typeface="Arial"/>
              </a:rPr>
              <a:t>Проверять по одному изменению: день/ставка/бюджет/LP. Если менять всё сразу — снова не поймём, что сработало.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ПРОСТЫМИ СЛОВАМИ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Что происходит: коротко и по-человечески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09647" y="1143000"/>
            <a:ext cx="148132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2799" y="118872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2799" y="1664207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звонков за 9 дней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2415" y="1143000"/>
            <a:ext cx="148132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5567" y="118872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$3,82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5567" y="1664207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средняя цена звонка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55183" y="1143000"/>
            <a:ext cx="148132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28335" y="118872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530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8335" y="1664207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кликов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27951" y="1143000"/>
            <a:ext cx="148132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1103" y="118872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$0,34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1103" y="1664207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средняя цена клика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0719" y="1143000"/>
            <a:ext cx="148132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3871" y="118872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3871" y="1664207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расход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2057400"/>
          <a:ext cx="5943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85800"/>
                <a:gridCol w="777240"/>
                <a:gridCol w="914400"/>
                <a:gridCol w="68580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Звонки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Цена звонка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Цена клика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Развал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$45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$3,78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$0,33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$62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$3,24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$0,28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$57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$3,83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$0,40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Проточка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$15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$14,95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$0,45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Всего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$179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$3,82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$0,34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178040" y="2057400"/>
            <a:ext cx="4480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900">
                <a:solidFill>
                  <a:srgbClr val="17181A"/>
                </a:solidFill>
                <a:latin typeface="Arial"/>
              </a:rPr>
              <a:t>8,9 из 100 кликов заканчиваются звонком — хороший уровень.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900">
                <a:solidFill>
                  <a:srgbClr val="17181A"/>
                </a:solidFill>
                <a:latin typeface="Arial"/>
              </a:rPr>
              <a:t>46 из 47 звонков — с телефона.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900">
                <a:solidFill>
                  <a:srgbClr val="17181A"/>
                </a:solidFill>
                <a:latin typeface="Arial"/>
              </a:rPr>
              <a:t>Лучше всего звонят с 9 до 14; после 16 почти нет.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900">
                <a:solidFill>
                  <a:srgbClr val="17181A"/>
                </a:solidFill>
                <a:latin typeface="Arial"/>
              </a:rPr>
              <a:t>Развал + СТО = 31 из 47 звонков.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900">
                <a:solidFill>
                  <a:srgbClr val="17181A"/>
                </a:solidFill>
                <a:latin typeface="Arial"/>
              </a:rPr>
              <a:t>Самый дешёвый звонок — СТО: 3,24 $.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700">
                <a:solidFill>
                  <a:srgbClr val="D0130D"/>
                </a:solidFill>
                <a:latin typeface="Arial"/>
              </a:rPr>
              <a:t>●  </a:t>
            </a:r>
            <a:r>
              <a:rPr sz="900">
                <a:solidFill>
                  <a:srgbClr val="17181A"/>
                </a:solidFill>
                <a:latin typeface="Arial"/>
              </a:rPr>
              <a:t>Проточка: 1 звонок — это мало данных, не вывод.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54880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D0130D"/>
                </a:solidFill>
                <a:latin typeface="Arial"/>
              </a:rPr>
              <a:t>КУДА ДВИГАЕМСЯ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47488"/>
            <a:ext cx="26974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5138928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40" b="1">
                <a:solidFill>
                  <a:srgbClr val="17181A"/>
                </a:solidFill>
                <a:latin typeface="Arial"/>
              </a:rPr>
              <a:t>РАЗВАЛ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" y="5376672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4A4A4E"/>
                </a:solidFill>
                <a:latin typeface="Arial"/>
              </a:rPr>
              <a:t>Добавить бюджет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5848" y="5047488"/>
            <a:ext cx="26974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3864" y="5138928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40" b="1">
                <a:solidFill>
                  <a:srgbClr val="17181A"/>
                </a:solidFill>
                <a:latin typeface="Arial"/>
              </a:rPr>
              <a:t>СТО - ПО МАРКАМ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83864" y="5376672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4A4A4E"/>
                </a:solidFill>
                <a:latin typeface="Arial"/>
              </a:rPr>
              <a:t>Сделать страницу по маркам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5047488"/>
            <a:ext cx="26974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5138928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40" b="1">
                <a:solidFill>
                  <a:srgbClr val="17181A"/>
                </a:solidFill>
                <a:latin typeface="Arial"/>
              </a:rPr>
              <a:t>РЕГУЛИРОВКА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5376672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4A4A4E"/>
                </a:solidFill>
                <a:latin typeface="Arial"/>
              </a:rPr>
              <a:t>Не поднимать бюджет, чинить страницу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61704" y="5047488"/>
            <a:ext cx="269748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5138928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40" b="1">
                <a:solidFill>
                  <a:srgbClr val="17181A"/>
                </a:solidFill>
                <a:latin typeface="Arial"/>
              </a:rPr>
              <a:t>ПРОТОЧКА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5376672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4A4A4E"/>
                </a:solidFill>
                <a:latin typeface="Arial"/>
              </a:rPr>
              <a:t>Набрать объём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00" b="0">
                <a:solidFill>
                  <a:srgbClr val="6E6E73"/>
                </a:solidFill>
                <a:latin typeface="Arial"/>
              </a:rPr>
              <a:t>Хорошая новость: клик 0,34 $ и звонок 3,82 $ — это очень дёшево. Ориентир auto repair (CA, 2024–25): клик ~3,5 $, заявка ~44 $. Рынок другой, но запас большой.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ПО ДНЯМ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Заявки и деньги по дням — без разбивки по кампаниям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40" b="0">
                <a:solidFill>
                  <a:srgbClr val="6E6E73"/>
                </a:solidFill>
                <a:latin typeface="Arial"/>
              </a:rPr>
              <a:t>13–21 октября. 17–18 — пауза, 19 — провал, 20–21 — восстановление.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89888"/>
          <a:ext cx="64465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548640"/>
                <a:gridCol w="685800"/>
                <a:gridCol w="960120"/>
                <a:gridCol w="960120"/>
                <a:gridCol w="960120"/>
                <a:gridCol w="685800"/>
                <a:gridCol w="96012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Дата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День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Звонки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Накопительно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Цена звонка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1">
                          <a:solidFill>
                            <a:srgbClr val="FFFFFF"/>
                          </a:solidFill>
                          <a:latin typeface="Arial"/>
                        </a:rPr>
                        <a:t>Цена клика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13.10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Вт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$22,47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$2,25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$0,30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14.10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Ср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$23,56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$2,94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$0,32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15.10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Чт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$20,92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$2,99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$0,31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16.10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Пт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$24,76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$4,13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$0,38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17.10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Сб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18.10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Вс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19.10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Пн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$21,27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$10,63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$0,33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20.10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Вт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$32,25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$5,38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$0,37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21.10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Ср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$34,15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$4,27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$0,35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$179,38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$3,82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30" b="0">
                          <a:solidFill>
                            <a:srgbClr val="17181A"/>
                          </a:solidFill>
                          <a:latin typeface="Arial"/>
                        </a:rPr>
                        <a:t>$0,34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635240" y="1389888"/>
          <a:ext cx="40690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504688"/>
            <a:ext cx="6903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0">
                <a:solidFill>
                  <a:srgbClr val="6E6E73"/>
                </a:solidFill>
                <a:latin typeface="Arial"/>
              </a:rPr>
              <a:t>19.10: 2 звонка, цена звонка $10,64 — день после паузы. 20–21: 6 и 8 звонков, цена $5,38 и $4,27. Выходные 17–18 не работали.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66360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20" b="0">
                <a:solidFill>
                  <a:srgbClr val="6E6E73"/>
                </a:solidFill>
                <a:latin typeface="Arial"/>
              </a:rPr>
              <a:t>Цена звонка = расход / звонки.</a:t>
            </a:r>
          </a:p>
          <a:p>
            <a:pPr>
              <a:spcAft>
                <a:spcPts val="0"/>
              </a:spcAft>
            </a:pPr>
            <a:r>
              <a:rPr sz="720" b="0">
                <a:solidFill>
                  <a:srgbClr val="6E6E73"/>
                </a:solidFill>
                <a:latin typeface="Arial"/>
              </a:rPr>
              <a:t>Цена клика = расход / клики.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НЕДЕЛИ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Недели: конверсии, цена клика, стоимость конверсии и расход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42415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819" b="0">
                <a:solidFill>
                  <a:srgbClr val="6E6E73"/>
                </a:solidFill>
                <a:latin typeface="Arial"/>
              </a:rPr>
              <a:t>По 4 текущим кампаниям. 05.10 данных нет. Неделя 19–25 — неполная (19–22).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55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1325880"/>
                <a:gridCol w="868680"/>
                <a:gridCol w="1600200"/>
                <a:gridCol w="1600200"/>
                <a:gridCol w="2011680"/>
                <a:gridCol w="13258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Неделя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Конверсии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Средняя цена клика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Коэф. конверсии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Стоимость конверсии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05–11.10 (06–09)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$0,46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$7,68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$69,16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12–18.10  · лучшая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$0,33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$3,37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$111,18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19–25.10 (19–22)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$0,36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$5,73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$97,46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Итого 06–22.10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761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$0,37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$4,71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80" b="0">
                          <a:solidFill>
                            <a:srgbClr val="17181A"/>
                          </a:solidFill>
                          <a:latin typeface="Arial"/>
                        </a:rPr>
                        <a:t>$277,80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401568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D0130D"/>
                </a:solidFill>
                <a:latin typeface="Arial"/>
              </a:rPr>
              <a:t>ПОНЕДЕЛЬНИКИ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675887"/>
          <a:ext cx="69037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960120"/>
                <a:gridCol w="822960"/>
                <a:gridCol w="960120"/>
                <a:gridCol w="868680"/>
                <a:gridCol w="96012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Понедельник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Конверсии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Цена клика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Конв.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Цена конв.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45720" marR="36576" marT="9144" marB="9144" anchor="ctr">
                    <a:solidFill>
                      <a:srgbClr val="1718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05.10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12.10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$0,34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$9,74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$19,47</a:t>
                      </a:r>
                    </a:p>
                  </a:txBody>
                  <a:tcPr marL="45720" marR="36576" marT="9144" marB="9144" anchor="ctr">
                    <a:solidFill>
                      <a:srgbClr val="EFEFE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19.10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$0,33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$10,64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60" b="0">
                          <a:solidFill>
                            <a:srgbClr val="17181A"/>
                          </a:solidFill>
                          <a:latin typeface="Arial"/>
                        </a:rPr>
                        <a:t>$21,27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26679" y="3675887"/>
            <a:ext cx="39319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05.10 данных нет — сравнивать не с чем.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12.10 vs 19.10: звонки 2 и 2, клики 58→65, CPA $9,74→$10,64.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19-е — первый день после паузы, поэтому не показатель.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80">
                <a:solidFill>
                  <a:srgbClr val="D0130D"/>
                </a:solidFill>
                <a:latin typeface="Arial"/>
              </a:rPr>
              <a:t>●  </a:t>
            </a:r>
            <a:r>
              <a:rPr sz="880">
                <a:solidFill>
                  <a:srgbClr val="17181A"/>
                </a:solidFill>
                <a:latin typeface="Arial"/>
              </a:rPr>
              <a:t>Лучшая неделя — 12–18.10: 33 звонка, CPA $3,37, CVR 9,8%.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4068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40" b="0">
                <a:solidFill>
                  <a:srgbClr val="6E6E73"/>
                </a:solidFill>
                <a:latin typeface="Arial"/>
              </a:rPr>
              <a:t>05–11 — только 06–09 (4 дня), 9 звонков. Итог 06–22 — 59 звонков, $277,80, CPA $4,71.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7181A"/>
                </a:solidFill>
                <a:latin typeface="Arial"/>
              </a:rPr>
              <a:t>Заявки и цена клика: как двигалось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ДАСТО — СТО · 13–21.10.2026 · только 4 активные кампании · без изменений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2415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5567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5567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звонков за 9 дней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55183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8335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$0,34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8335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средняя цена клика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7951" y="1005840"/>
            <a:ext cx="1481328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1103" y="1051560"/>
            <a:ext cx="13350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0130D"/>
                </a:solidFill>
                <a:latin typeface="Arial"/>
              </a:rPr>
              <a:t>$3,82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1103" y="1399032"/>
            <a:ext cx="133502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60">
                <a:solidFill>
                  <a:srgbClr val="6E6E73"/>
                </a:solidFill>
                <a:latin typeface="Arial"/>
              </a:rPr>
              <a:t>средняя цена звонка</a:t>
            </a:r>
          </a:p>
        </p:txBody>
      </p:sp>
      <p:pic>
        <p:nvPicPr>
          <p:cNvPr id="16" name="Picture 15" descr="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47088"/>
            <a:ext cx="11155680" cy="41879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80" b="0">
                <a:solidFill>
                  <a:srgbClr val="6E6E73"/>
                </a:solidFill>
                <a:latin typeface="Arial"/>
              </a:rPr>
              <a:t>17–18 — пауза, 19 — провал, 20–21 — восстановление. Средняя цена клика $0,34; средняя цена звонка $3,82.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