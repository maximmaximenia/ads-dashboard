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Конверсии</c:v>
                </c:pt>
              </c:strCache>
            </c:strRef>
          </c:tx>
          <c:spPr>
            <a:solidFill>
              <a:srgbClr val="1A73E8"/>
            </a:solidFill>
          </c:spPr>
          <c:cat>
            <c:strRef>
              <c:f>Sheet1!$A$2:$A$15</c:f>
              <c:strCache>
                <c:ptCount val="14"/>
                <c:pt idx="0">
                  <c:v>06.10</c:v>
                </c:pt>
                <c:pt idx="1">
                  <c:v>07.10</c:v>
                </c:pt>
                <c:pt idx="2">
                  <c:v>08.10</c:v>
                </c:pt>
                <c:pt idx="3">
                  <c:v>09.10</c:v>
                </c:pt>
                <c:pt idx="4">
                  <c:v>12.10</c:v>
                </c:pt>
                <c:pt idx="5">
                  <c:v>13.10</c:v>
                </c:pt>
                <c:pt idx="6">
                  <c:v>14.10</c:v>
                </c:pt>
                <c:pt idx="7">
                  <c:v>15.10</c:v>
                </c:pt>
                <c:pt idx="8">
                  <c:v>16.10</c:v>
                </c:pt>
                <c:pt idx="9">
                  <c:v>19.10</c:v>
                </c:pt>
                <c:pt idx="10">
                  <c:v>20.10</c:v>
                </c:pt>
                <c:pt idx="11">
                  <c:v>21.10</c:v>
                </c:pt>
                <c:pt idx="12">
                  <c:v>22.10</c:v>
                </c:pt>
                <c:pt idx="13">
                  <c:v>23.10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3.0</c:v>
                </c:pt>
                <c:pt idx="1">
                  <c:v>4.0</c:v>
                </c:pt>
                <c:pt idx="2">
                  <c:v>4.0</c:v>
                </c:pt>
                <c:pt idx="3">
                  <c:v>1.0</c:v>
                </c:pt>
                <c:pt idx="4">
                  <c:v>3.008361</c:v>
                </c:pt>
                <c:pt idx="5">
                  <c:v>11.008361</c:v>
                </c:pt>
                <c:pt idx="6">
                  <c:v>9.0</c:v>
                </c:pt>
                <c:pt idx="7">
                  <c:v>7.0</c:v>
                </c:pt>
                <c:pt idx="8">
                  <c:v>8.983278</c:v>
                </c:pt>
                <c:pt idx="9">
                  <c:v>3.008336</c:v>
                </c:pt>
                <c:pt idx="10">
                  <c:v>7.0</c:v>
                </c:pt>
                <c:pt idx="11">
                  <c:v>10.0</c:v>
                </c:pt>
                <c:pt idx="12">
                  <c:v>8.991664</c:v>
                </c:pt>
                <c:pt idx="13">
                  <c:v>15.0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50" b="1">
                  <a:solidFill>
                    <a:srgbClr val="16181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6EA"/>
            </a:solidFill>
          </a:ln>
        </c:spPr>
        <c:txPr>
          <a:bodyPr/>
          <a:lstStyle/>
          <a:p>
            <a:pPr>
              <a:defRPr sz="85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Получено, %</c:v>
                </c:pt>
              </c:strCache>
            </c:strRef>
          </c:tx>
          <c:spPr>
            <a:solidFill>
              <a:srgbClr val="137333"/>
            </a:solidFill>
          </c:spPr>
          <c:cat>
            <c:strRef>
              <c:f>Sheet1!$A$2:$A$9</c:f>
              <c:strCache>
                <c:ptCount val="8"/>
                <c:pt idx="0">
                  <c:v>Ремонт ДВС</c:v>
                </c:pt>
                <c:pt idx="1">
                  <c:v>Развал-схождение</c:v>
                </c:pt>
                <c:pt idx="2">
                  <c:v>Ремонт глушителя</c:v>
                </c:pt>
                <c:pt idx="3">
                  <c:v>СТО - По маркам</c:v>
                </c:pt>
                <c:pt idx="4">
                  <c:v>Ремонт подвески</c:v>
                </c:pt>
                <c:pt idx="5">
                  <c:v>СТО - Общая</c:v>
                </c:pt>
                <c:pt idx="6">
                  <c:v>Регулировка фар</c:v>
                </c:pt>
                <c:pt idx="7">
                  <c:v>Проточка тормозных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31.654676258992804</c:v>
                </c:pt>
                <c:pt idx="1">
                  <c:v>51.58822165546023</c:v>
                </c:pt>
                <c:pt idx="2">
                  <c:v>77.57847533632287</c:v>
                </c:pt>
                <c:pt idx="3">
                  <c:v>43.84787472035794</c:v>
                </c:pt>
                <c:pt idx="4">
                  <c:v>48.10744810744811</c:v>
                </c:pt>
                <c:pt idx="5">
                  <c:v>24.689655172413794</c:v>
                </c:pt>
                <c:pt idx="6">
                  <c:v>62.38223418573351</c:v>
                </c:pt>
                <c:pt idx="7">
                  <c:v>69.93630573248407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Потеря: бюджет, %</c:v>
                </c:pt>
              </c:strCache>
            </c:strRef>
          </c:tx>
          <c:spPr>
            <a:solidFill>
              <a:srgbClr val="C5221F"/>
            </a:solidFill>
          </c:spPr>
          <c:cat>
            <c:strRef>
              <c:f>Sheet1!$A$2:$A$9</c:f>
              <c:strCache>
                <c:ptCount val="8"/>
                <c:pt idx="0">
                  <c:v>Ремонт ДВС</c:v>
                </c:pt>
                <c:pt idx="1">
                  <c:v>Развал-схождение</c:v>
                </c:pt>
                <c:pt idx="2">
                  <c:v>Ремонт глушителя</c:v>
                </c:pt>
                <c:pt idx="3">
                  <c:v>СТО - По маркам</c:v>
                </c:pt>
                <c:pt idx="4">
                  <c:v>Ремонт подвески</c:v>
                </c:pt>
                <c:pt idx="5">
                  <c:v>СТО - Общая</c:v>
                </c:pt>
                <c:pt idx="6">
                  <c:v>Регулировка фар</c:v>
                </c:pt>
                <c:pt idx="7">
                  <c:v>Проточка тормозных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53.47721822541966</c:v>
                </c:pt>
                <c:pt idx="1">
                  <c:v>43.89056341293763</c:v>
                </c:pt>
                <c:pt idx="2">
                  <c:v>20.179372197309416</c:v>
                </c:pt>
                <c:pt idx="3">
                  <c:v>18.81680338056177</c:v>
                </c:pt>
                <c:pt idx="4">
                  <c:v>13.98046398046398</c:v>
                </c:pt>
                <c:pt idx="5">
                  <c:v>12.206896551724137</c:v>
                </c:pt>
                <c:pt idx="6">
                  <c:v>9.353970390309556</c:v>
                </c:pt>
                <c:pt idx="7">
                  <c:v>4.3312101910828025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Потеря: ранг, %</c:v>
                </c:pt>
              </c:strCache>
            </c:strRef>
          </c:tx>
          <c:spPr>
            <a:solidFill>
              <a:srgbClr val="6B7280"/>
            </a:solidFill>
          </c:spPr>
          <c:cat>
            <c:strRef>
              <c:f>Sheet1!$A$2:$A$9</c:f>
              <c:strCache>
                <c:ptCount val="8"/>
                <c:pt idx="0">
                  <c:v>Ремонт ДВС</c:v>
                </c:pt>
                <c:pt idx="1">
                  <c:v>Развал-схождение</c:v>
                </c:pt>
                <c:pt idx="2">
                  <c:v>Ремонт глушителя</c:v>
                </c:pt>
                <c:pt idx="3">
                  <c:v>СТО - По маркам</c:v>
                </c:pt>
                <c:pt idx="4">
                  <c:v>Ремонт подвески</c:v>
                </c:pt>
                <c:pt idx="5">
                  <c:v>СТО - Общая</c:v>
                </c:pt>
                <c:pt idx="6">
                  <c:v>Регулировка фар</c:v>
                </c:pt>
                <c:pt idx="7">
                  <c:v>Проточка тормозных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14.86810551558753</c:v>
                </c:pt>
                <c:pt idx="1">
                  <c:v>4.521214931602134</c:v>
                </c:pt>
                <c:pt idx="2">
                  <c:v>2.242152466367713</c:v>
                </c:pt>
                <c:pt idx="3">
                  <c:v>37.335321899080284</c:v>
                </c:pt>
                <c:pt idx="4">
                  <c:v>37.91208791208791</c:v>
                </c:pt>
                <c:pt idx="5">
                  <c:v>63.10344827586207</c:v>
                </c:pt>
                <c:pt idx="6">
                  <c:v>28.263795423956932</c:v>
                </c:pt>
                <c:pt idx="7">
                  <c:v>25.73248407643312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50" b="1">
                  <a:solidFill>
                    <a:srgbClr val="16181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6EA"/>
            </a:solidFill>
          </a:ln>
        </c:spPr>
        <c:txPr>
          <a:bodyPr/>
          <a:lstStyle/>
          <a:p>
            <a:pPr>
              <a:defRPr sz="85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6B7280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Конверсия из клика, %</c:v>
                </c:pt>
              </c:strCache>
            </c:strRef>
          </c:tx>
          <c:spPr>
            <a:solidFill>
              <a:srgbClr val="137333"/>
            </a:solidFill>
          </c:spPr>
          <c:cat>
            <c:strRef>
              <c:f>Sheet1!$A$2:$A$3</c:f>
              <c:strCache>
                <c:ptCount val="2"/>
                <c:pt idx="0">
                  <c:v>Телефоны</c:v>
                </c:pt>
                <c:pt idx="1">
                  <c:v>Компьютеры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10.21087680355161</c:v>
                </c:pt>
                <c:pt idx="1">
                  <c:v>1.6129032258064515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50" b="1">
                  <a:solidFill>
                    <a:srgbClr val="16181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6EA"/>
            </a:solidFill>
          </a:ln>
        </c:spPr>
        <c:txPr>
          <a:bodyPr/>
          <a:lstStyle/>
          <a:p>
            <a:pPr>
              <a:defRPr sz="85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Конверсия из клика, %</c:v>
                </c:pt>
              </c:strCache>
            </c:strRef>
          </c:tx>
          <c:spPr>
            <a:solidFill>
              <a:srgbClr val="1A73E8"/>
            </a:solidFill>
          </c:spPr>
          <c:cat>
            <c:strRef>
              <c:f>Sheet1!$A$2:$A$11</c:f>
              <c:strCache>
                <c:ptCount val="10"/>
                <c:pt idx="0">
                  <c:v>9:00</c:v>
                </c:pt>
                <c:pt idx="1">
                  <c:v>10:00</c:v>
                </c:pt>
                <c:pt idx="2">
                  <c:v>11:00</c:v>
                </c:pt>
                <c:pt idx="3">
                  <c:v>12:00</c:v>
                </c:pt>
                <c:pt idx="4">
                  <c:v>13:00</c:v>
                </c:pt>
                <c:pt idx="5">
                  <c:v>14:00</c:v>
                </c:pt>
                <c:pt idx="6">
                  <c:v>15:00</c:v>
                </c:pt>
                <c:pt idx="7">
                  <c:v>16:00</c:v>
                </c:pt>
                <c:pt idx="8">
                  <c:v>17:00</c:v>
                </c:pt>
                <c:pt idx="9">
                  <c:v>18:00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5.147077205882352</c:v>
                </c:pt>
                <c:pt idx="1">
                  <c:v>6.991034131736527</c:v>
                </c:pt>
                <c:pt idx="2">
                  <c:v>10.92278757062147</c:v>
                </c:pt>
                <c:pt idx="3">
                  <c:v>6.404896794871795</c:v>
                </c:pt>
                <c:pt idx="4">
                  <c:v>11.410821052631578</c:v>
                </c:pt>
                <c:pt idx="5">
                  <c:v>13.0</c:v>
                </c:pt>
                <c:pt idx="6">
                  <c:v>11.10182111111111</c:v>
                </c:pt>
                <c:pt idx="7">
                  <c:v>11.11111111111111</c:v>
                </c:pt>
                <c:pt idx="8">
                  <c:v>4.081632653061225</c:v>
                </c:pt>
                <c:pt idx="9">
                  <c:v>0.0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50" b="1">
                  <a:solidFill>
                    <a:srgbClr val="16181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6EA"/>
            </a:solidFill>
          </a:ln>
        </c:spPr>
        <c:txPr>
          <a:bodyPr/>
          <a:lstStyle/>
          <a:p>
            <a:pPr>
              <a:defRPr sz="85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Конверсий в день, среднее</c:v>
                </c:pt>
              </c:strCache>
            </c:strRef>
          </c:tx>
          <c:spPr>
            <a:solidFill>
              <a:srgbClr val="1A73E8"/>
            </a:solidFill>
          </c:spPr>
          <c:cat>
            <c:strRef>
              <c:f>Sheet1!$A$2:$A$6</c:f>
              <c:strCache>
                <c:ptCount val="5"/>
                <c:pt idx="0">
                  <c:v>Пн</c:v>
                </c:pt>
                <c:pt idx="1">
                  <c:v>Вт</c:v>
                </c:pt>
                <c:pt idx="2">
                  <c:v>Ср</c:v>
                </c:pt>
                <c:pt idx="3">
                  <c:v>Чт</c:v>
                </c:pt>
                <c:pt idx="4">
                  <c:v>Пт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3.0083485</c:v>
                </c:pt>
                <c:pt idx="1">
                  <c:v>7.0027870000000005</c:v>
                </c:pt>
                <c:pt idx="2">
                  <c:v>7.666666666666667</c:v>
                </c:pt>
                <c:pt idx="3">
                  <c:v>6.663888</c:v>
                </c:pt>
                <c:pt idx="4">
                  <c:v>8.327759333333333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50" b="1">
                  <a:solidFill>
                    <a:srgbClr val="16181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6EA"/>
            </a:solidFill>
          </a:ln>
        </c:spPr>
        <c:txPr>
          <a:bodyPr/>
          <a:lstStyle/>
          <a:p>
            <a:pPr>
              <a:defRPr sz="85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Расход на слабые ключи, $</c:v>
                </c:pt>
              </c:strCache>
            </c:strRef>
          </c:tx>
          <c:spPr>
            <a:solidFill>
              <a:srgbClr val="C5221F"/>
            </a:solidFill>
          </c:spPr>
          <c:cat>
            <c:strRef>
              <c:f>Sheet1!$A$2:$A$9</c:f>
              <c:strCache>
                <c:ptCount val="8"/>
                <c:pt idx="0">
                  <c:v>Регулировка фар</c:v>
                </c:pt>
                <c:pt idx="1">
                  <c:v>Развал-схождение</c:v>
                </c:pt>
                <c:pt idx="2">
                  <c:v>СТО - По маркам</c:v>
                </c:pt>
                <c:pt idx="3">
                  <c:v>Ремонт подвески</c:v>
                </c:pt>
                <c:pt idx="4">
                  <c:v>Проточка тормозных</c:v>
                </c:pt>
                <c:pt idx="5">
                  <c:v>Ремонт глушителя</c:v>
                </c:pt>
                <c:pt idx="6">
                  <c:v>Ремонт ДВС</c:v>
                </c:pt>
                <c:pt idx="7">
                  <c:v>СТО - Общая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85.452397</c:v>
                </c:pt>
                <c:pt idx="1">
                  <c:v>83.98005699999999</c:v>
                </c:pt>
                <c:pt idx="2">
                  <c:v>57.24399800000001</c:v>
                </c:pt>
                <c:pt idx="3">
                  <c:v>56.88</c:v>
                </c:pt>
                <c:pt idx="4">
                  <c:v>27.1</c:v>
                </c:pt>
                <c:pt idx="5">
                  <c:v>18.87</c:v>
                </c:pt>
                <c:pt idx="6">
                  <c:v>9.03</c:v>
                </c:pt>
                <c:pt idx="7">
                  <c:v>8.99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50" b="1">
                  <a:solidFill>
                    <a:srgbClr val="16181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6EA"/>
            </a:solidFill>
          </a:ln>
        </c:spPr>
        <c:txPr>
          <a:bodyPr/>
          <a:lstStyle/>
          <a:p>
            <a:pPr>
              <a:defRPr sz="85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B4F8"/>
                </a:solidFill>
                <a:latin typeface="Arial"/>
              </a:rPr>
              <a:t>GOOGLE ADS / ДАСТО — СТО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Разбор рекламы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9AA0A6"/>
                </a:solidFill>
                <a:latin typeface="Arial"/>
              </a:rPr>
              <a:t>6–23 октября 2026 · 14 рабочих дней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аукцион · устройства · часы · ключи · качество · расчёт прироста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Подготовлено 24.10.2026 · в аккаунте ничего не менял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Arial"/>
              </a:rPr>
              <a:t>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6181D"/>
                </a:solidFill>
                <a:latin typeface="Arial"/>
              </a:rPr>
              <a:t>Почему окно — с 6 октября, а не за месяц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070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ДАСТО — СТО · 6–23.10.2026 · 14 рабочих дней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83112" cy="12700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83112" cy="1828800"/>
          </a:xfrm>
          <a:prstGeom prst="roundRect">
            <a:avLst>
              <a:gd name="adj" fmla="val 6000"/>
            </a:avLst>
          </a:prstGeom>
          <a:solidFill>
            <a:srgbClr val="FDF3F2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38100" cy="182880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73352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6181D"/>
                </a:solidFill>
                <a:latin typeface="Arial"/>
              </a:rPr>
              <a:t>Учёт конверсий менялся — периоды несравнимы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75104"/>
            <a:ext cx="1081735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6181D"/>
                </a:solidFill>
                <a:latin typeface="Arial"/>
              </a:rPr>
              <a:t/>
            </a:r>
            <a:r>
              <a:rPr sz="1000">
                <a:solidFill>
                  <a:srgbClr val="16181D"/>
                </a:solidFill>
                <a:latin typeface="Arial"/>
              </a:rPr>
              <a:t>•  До 1 октября конверсией считались page_view и scroll_75 из GA4: 24.09 было 53,7 «конверсии» на 45 кликов.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С 6 октября остались только осмысленные действия: «Исходящий клик» (клик по номеру), инстаграм, вайбер, телеграм.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За 24.09–23.10 суммарно: page_view 230,3 · Исходящий клик 88,0 · scroll_75 17,1 · остальное 24,0.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Поэтому всё ниже считается с 6 по 23 октября. Сравнения с сентябрём в отчёте нет — они были бы ложными.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566160"/>
            <a:ext cx="11183112" cy="15544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566160"/>
            <a:ext cx="38100" cy="1554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3685032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6181D"/>
                </a:solidFill>
                <a:latin typeface="Arial"/>
              </a:rPr>
              <a:t>Что ещё учтено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986784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6181D"/>
                </a:solidFill>
                <a:latin typeface="Arial"/>
              </a:rPr>
              <a:t/>
            </a:r>
            <a:r>
              <a:rPr sz="1000">
                <a:solidFill>
                  <a:srgbClr val="16181D"/>
                </a:solidFill>
                <a:latin typeface="Arial"/>
              </a:rPr>
              <a:t>•  14 рабочих дней: 6–9, 12–16, 19–23 октября. Реклама идёт только по будням с 9 до 19.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Конверсия = клик по номеру или мессенджеру на сайте. Это не звонок: часть кликов звонком не заканчивается.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Расчёты прироста — оценка при сохранении текущих CTR, конверсии и цены клика. Не гарантия.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Доля показов и потери — из API, по дням. Имена конкурентов API не отдаёт.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303520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Все цифры в отчёте перепроверены на этом окне. Там, где наблюдений мало, это написано прямо.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Arial"/>
              </a:rPr>
              <a:t>ГЛАВНОЕ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6181D"/>
                </a:solidFill>
                <a:latin typeface="Arial"/>
              </a:rPr>
              <a:t>Что показали 14 дней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070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ДАСТО — СТО · 6–23.10.2026 · 14 рабочих дней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83112" cy="12700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36192"/>
            <a:ext cx="2119579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64207"/>
            <a:ext cx="184525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6181D"/>
                </a:solidFill>
                <a:latin typeface="Arial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03120"/>
            <a:ext cx="18452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конверсий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8803" y="1536192"/>
            <a:ext cx="2119579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3395" y="1664207"/>
            <a:ext cx="184525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6181D"/>
                </a:solidFill>
                <a:latin typeface="Arial"/>
              </a:rPr>
              <a:t>$463.96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3395" y="2103120"/>
            <a:ext cx="18452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расход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1536192"/>
            <a:ext cx="2119579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9278" y="1664207"/>
            <a:ext cx="184525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6181D"/>
                </a:solidFill>
                <a:latin typeface="Arial"/>
              </a:rPr>
              <a:t>$4.88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9278" y="2103120"/>
            <a:ext cx="18452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цена конверсии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00569" y="1536192"/>
            <a:ext cx="2119579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65161" y="1664207"/>
            <a:ext cx="184525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6181D"/>
                </a:solidFill>
                <a:latin typeface="Arial"/>
              </a:rPr>
              <a:t>1094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5161" y="2103120"/>
            <a:ext cx="18452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кликов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66452" y="1536192"/>
            <a:ext cx="2119579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1044" y="1664207"/>
            <a:ext cx="184525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6181D"/>
                </a:solidFill>
                <a:latin typeface="Arial"/>
              </a:rPr>
              <a:t>$0.42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1044" y="2103120"/>
            <a:ext cx="18452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цена клика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69748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F1F8F3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697480"/>
            <a:ext cx="38100" cy="329184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281635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6181D"/>
                </a:solidFill>
                <a:latin typeface="Arial"/>
              </a:rPr>
              <a:t>Подтвердилось данными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3118104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6181D"/>
                </a:solidFill>
                <a:latin typeface="Arial"/>
              </a:rPr>
              <a:t/>
            </a:r>
            <a:r>
              <a:rPr sz="1000">
                <a:solidFill>
                  <a:srgbClr val="16181D"/>
                </a:solidFill>
                <a:latin typeface="Arial"/>
              </a:rPr>
              <a:t>•  Компьютеры: 186 кликов за 14 дней дали 3 конверсии. Конверсия 1,61% против 10,21% на телефонах.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Часы 13–16 дают конверсию 11–13%, часы 9–10 и 17–18 — 4–7%. Разброс устойчив все 14 дней.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Развал-схождение теряет 43,9% показов из-за бюджета при потере по рангу всего 4,5%.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110 ключей из 256 имеют посадочную ниже среднего, на них ушло $347.55 из $463.96.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23 ключа потратили $102.60 и не дали ни одной конверсии.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269748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2697480"/>
            <a:ext cx="38100" cy="3291840"/>
          </a:xfrm>
          <a:prstGeom prst="rect">
            <a:avLst/>
          </a:prstGeom>
          <a:solidFill>
            <a:srgbClr val="B0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81635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6181D"/>
                </a:solidFill>
                <a:latin typeface="Arial"/>
              </a:rPr>
              <a:t>Не подтвердилось — проверял, снимаю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118104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6181D"/>
                </a:solidFill>
                <a:latin typeface="Arial"/>
              </a:rPr>
              <a:t/>
            </a:r>
            <a:r>
              <a:rPr sz="1000">
                <a:solidFill>
                  <a:srgbClr val="16181D"/>
                </a:solidFill>
                <a:latin typeface="Arial"/>
              </a:rPr>
              <a:t>•  «Настройка фар дублирует Регулировку фар» — неверно. Это разные формулировки: регулировка / настройка / коррекция. Пересечений в ключах нет.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«Ключи без слова минск конвертят хуже» — на всей выборке разницы нет: 8,87% против 8,54%. Внутри одной группы выглядело убедительно, на 256 ключах — шум.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«Понедельник проваливается» — наблюдений всего 2. Вынесено в гипотезы, вывода здесь нет.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Arial"/>
              </a:rPr>
              <a:t>ПО ДНЯМ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6181D"/>
                </a:solidFill>
                <a:latin typeface="Arial"/>
              </a:rPr>
              <a:t>Конверсии и расход по дням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070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ДАСТО — СТО · 6–23.10.2026 · 14 рабочих дней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83112" cy="12700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508760"/>
          <a:ext cx="11183112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931920"/>
          <a:ext cx="1118311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3058"/>
                <a:gridCol w="1759141"/>
                <a:gridCol w="1759141"/>
                <a:gridCol w="1884794"/>
                <a:gridCol w="1507835"/>
                <a:gridCol w="1759141"/>
              </a:tblGrid>
              <a:tr h="15544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Дата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Конверсии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Цена конв.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Цена клика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06.10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$35.92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$11.97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$0.62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07.10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$35.74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$8.93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$0.52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08.10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$36.45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$9.11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$0.60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09.10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$35.58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$35.58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$0.71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12.10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$26.21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$8.71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$0.37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13.10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$31.93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$2.90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$0.35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14.10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$31.26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$3.47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$0.36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15.10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$31.66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$4.52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$0.37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16.10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$34.14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$3.80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$0.42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19.10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$31.78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$10.56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$0.34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20.10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$34.41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$4.92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$0.36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21.10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$34.15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$3.42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$0.35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22.10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$35.44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$3.94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$0.40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23.10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$29.29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$1.95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$0.42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355080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6–9 октября в среднем 3 конверсии в день, 13–23 октября — 8,8. Рост совпал с накоплением данных у стратегий.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Arial"/>
              </a:rPr>
              <a:t>КАМПАНИИ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6181D"/>
                </a:solidFill>
                <a:latin typeface="Arial"/>
              </a:rPr>
              <a:t>Все кампании за 14 дней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070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ДАСТО — СТО · 6–23.10.2026 · 14 рабочих дней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83112" cy="12700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54480"/>
          <a:ext cx="11183107" cy="2551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9945"/>
                <a:gridCol w="1191643"/>
                <a:gridCol w="916648"/>
                <a:gridCol w="916648"/>
                <a:gridCol w="1283307"/>
                <a:gridCol w="1374972"/>
                <a:gridCol w="1466637"/>
                <a:gridCol w="1283307"/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Конв.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Цена конв.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Доля показов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Потеря: бюджет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Потеря: ранг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$106.42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$4.43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62.4%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9.4%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28.3%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$96.07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$2.74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43.8%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18.8%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C5221F"/>
                          </a:solidFill>
                          <a:latin typeface="Arial"/>
                        </a:rPr>
                        <a:t>37.3%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$88.47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$5.53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51.6%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C5221F"/>
                          </a:solidFill>
                          <a:latin typeface="Arial"/>
                        </a:rPr>
                        <a:t>43.9%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4.5%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Ремонт подвески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$72.39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$7.24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48.1%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14.0%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C5221F"/>
                          </a:solidFill>
                          <a:latin typeface="Arial"/>
                        </a:rPr>
                        <a:t>37.9%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Проточка тормозных дисков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$37.12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$5.30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69.9%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4.3%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25.7%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Ремонт ДВС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$26.97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C5221F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C522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31.7%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C5221F"/>
                          </a:solidFill>
                          <a:latin typeface="Arial"/>
                        </a:rPr>
                        <a:t>53.5%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14.9%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Ремонт глушителя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$24.24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C5221F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C522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77.6%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20.2%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2.2%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СТО - Общая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$12.27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$4.09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24.7%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12.2%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C5221F"/>
                          </a:solidFill>
                          <a:latin typeface="Arial"/>
                        </a:rPr>
                        <a:t>63.1%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572000"/>
            <a:ext cx="11183112" cy="14630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572000"/>
            <a:ext cx="38100" cy="1463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4690872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6181D"/>
                </a:solidFill>
                <a:latin typeface="Arial"/>
              </a:rPr>
              <a:t>Что читается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992624"/>
            <a:ext cx="108173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6181D"/>
                </a:solidFill>
                <a:latin typeface="Arial"/>
              </a:rPr>
              <a:t/>
            </a:r>
            <a:r>
              <a:rPr sz="1000">
                <a:solidFill>
                  <a:srgbClr val="16181D"/>
                </a:solidFill>
                <a:latin typeface="Arial"/>
              </a:rPr>
              <a:t>•  Ремонт ДВС и Ремонт глушителя: 59 кликов, 0 конверсий, $51,21. Обе уже остановлены.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СТО — По маркам: лучшая цена конверсии $2,74, при этом теряет 18,8% показов из-за бюджета и 37,3% из-за ранга.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Развал-схождение: потеря по рангу всего 4,5% — объявления и ставка в порядке, упирается только в деньги.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Arial"/>
              </a:rPr>
              <a:t>АУКЦИОН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6181D"/>
                </a:solidFill>
                <a:latin typeface="Arial"/>
              </a:rPr>
              <a:t>Где теряем показы: бюджет против ранга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070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ДАСТО — СТО · 6–23.10.2026 · 14 рабочих дней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83112" cy="12700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508760"/>
          <a:ext cx="11183112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526280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FDF3F2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526280"/>
            <a:ext cx="38100" cy="173736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464515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6181D"/>
                </a:solidFill>
                <a:latin typeface="Arial"/>
              </a:rPr>
              <a:t>Лечится деньгами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946904"/>
            <a:ext cx="5120640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6181D"/>
                </a:solidFill>
                <a:latin typeface="Arial"/>
              </a:rPr>
              <a:t/>
            </a:r>
            <a:r>
              <a:rPr sz="1000">
                <a:solidFill>
                  <a:srgbClr val="16181D"/>
                </a:solidFill>
                <a:latin typeface="Arial"/>
              </a:rPr>
              <a:t>•  Развал-схождение — 43,9% потерь по бюджету, по рангу 4,5%.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СТО — По маркам — 18,8% по бюджету при лучшей цене конверсии в аккаунте.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4526280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4526280"/>
            <a:ext cx="38100" cy="1737360"/>
          </a:xfrm>
          <a:prstGeom prst="rect">
            <a:avLst/>
          </a:prstGeom>
          <a:solidFill>
            <a:srgbClr val="B0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64515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6181D"/>
                </a:solidFill>
                <a:latin typeface="Arial"/>
              </a:rPr>
              <a:t>Лечится качеством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946904"/>
            <a:ext cx="5120640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6181D"/>
                </a:solidFill>
                <a:latin typeface="Arial"/>
              </a:rPr>
              <a:t/>
            </a:r>
            <a:r>
              <a:rPr sz="1000">
                <a:solidFill>
                  <a:srgbClr val="16181D"/>
                </a:solidFill>
                <a:latin typeface="Arial"/>
              </a:rPr>
              <a:t>•  СТО — Общая: 63,1% потерь по рангу, доля показов 24,7%.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Ремонт подвески: 37,9% по рангу, цена конверсии $7,24 — худшая среди работающих.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Arial"/>
              </a:rPr>
              <a:t>УСТРОЙСТВА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6181D"/>
                </a:solidFill>
                <a:latin typeface="Arial"/>
              </a:rPr>
              <a:t>Компьютеры: 186 кликов, 3 конверсии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070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ДАСТО — СТО · 6–23.10.2026 · 14 рабочих дней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83112" cy="12700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36192"/>
            <a:ext cx="2119579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64207"/>
            <a:ext cx="184525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6181D"/>
                </a:solidFill>
                <a:latin typeface="Arial"/>
              </a:rPr>
              <a:t>186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03120"/>
            <a:ext cx="18452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кликов с компьютеров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8803" y="1536192"/>
            <a:ext cx="2119579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3395" y="1664207"/>
            <a:ext cx="184525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C5221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3395" y="2103120"/>
            <a:ext cx="18452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конверсии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1536192"/>
            <a:ext cx="2119579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9278" y="1664207"/>
            <a:ext cx="184525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C5221F"/>
                </a:solidFill>
                <a:latin typeface="Arial"/>
              </a:rPr>
              <a:t>1.61%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9278" y="2103120"/>
            <a:ext cx="18452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конверсия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00569" y="1536192"/>
            <a:ext cx="2119579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65161" y="1664207"/>
            <a:ext cx="184525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C5221F"/>
                </a:solidFill>
                <a:latin typeface="Arial"/>
              </a:rPr>
              <a:t>$27.20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5161" y="2103120"/>
            <a:ext cx="18452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цена конверсии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66452" y="1536192"/>
            <a:ext cx="2119579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1044" y="1664207"/>
            <a:ext cx="184525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6181D"/>
                </a:solidFill>
                <a:latin typeface="Arial"/>
              </a:rPr>
              <a:t>$81.59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1044" y="2103120"/>
            <a:ext cx="18452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потрачено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502920" y="2697480"/>
          <a:ext cx="539496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199632" y="2743200"/>
          <a:ext cx="548639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91540"/>
                <a:gridCol w="685800"/>
                <a:gridCol w="685800"/>
                <a:gridCol w="891540"/>
                <a:gridCol w="960119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Устройство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Конв.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Конверсия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Цена конв.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Телефоны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$379.09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901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10.21%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$4.12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Компьютеры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$81.59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C5221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C5221F"/>
                          </a:solidFill>
                          <a:latin typeface="Arial"/>
                        </a:rPr>
                        <a:t>1.61%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C5221F"/>
                          </a:solidFill>
                          <a:latin typeface="Arial"/>
                        </a:rPr>
                        <a:t>$27.20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Планшеты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$3.28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0.00%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502920" y="5120640"/>
            <a:ext cx="11183112" cy="1188720"/>
          </a:xfrm>
          <a:prstGeom prst="roundRect">
            <a:avLst>
              <a:gd name="adj" fmla="val 6000"/>
            </a:avLst>
          </a:prstGeom>
          <a:solidFill>
            <a:srgbClr val="F1F8F3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120640"/>
            <a:ext cx="38100" cy="118872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239512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6181D"/>
                </a:solidFill>
                <a:latin typeface="Arial"/>
              </a:rPr>
              <a:t>Расчёт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541264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6181D"/>
                </a:solidFill>
                <a:latin typeface="Arial"/>
              </a:rPr>
              <a:t/>
            </a:r>
            <a:r>
              <a:rPr sz="1000">
                <a:solidFill>
                  <a:srgbClr val="16181D"/>
                </a:solidFill>
                <a:latin typeface="Arial"/>
              </a:rPr>
              <a:t>•  За 14 дней на компьютеры ушло $81.59 и получено 3 конверсии. Те же деньги на телефонах по цене $4.12 дали бы 19.8 конверсий.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Чистый прирост при переносе: +16.8 конверсий за 14 дней, то есть +6.0 в неделю. Выборка — 14 дней, паттерн устойчив.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Arial"/>
              </a:rPr>
              <a:t>ЧАСЫ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6181D"/>
                </a:solidFill>
                <a:latin typeface="Arial"/>
              </a:rPr>
              <a:t>Конверсия по часам: провал утром и после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070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ДАСТО — СТО · 6–23.10.2026 · 14 рабочих дней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83112" cy="12700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508760"/>
          <a:ext cx="11183112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4069080"/>
          <a:ext cx="11183109" cy="2263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757"/>
                <a:gridCol w="1656757"/>
                <a:gridCol w="1932883"/>
                <a:gridCol w="1932883"/>
                <a:gridCol w="1932883"/>
                <a:gridCol w="2070946"/>
              </a:tblGrid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Час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Конверсии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Конверсия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Цена конв.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9:00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5.15%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$62.50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$8.93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10:00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6.99%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$73.66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$6.31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11:00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37333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37333"/>
                          </a:solidFill>
                          <a:latin typeface="Arial"/>
                        </a:rPr>
                        <a:t>10.92%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$83.39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$4.31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12:00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6.40%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$65.69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$6.57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13:00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37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37333"/>
                          </a:solidFill>
                          <a:latin typeface="Arial"/>
                        </a:rPr>
                        <a:t>11.41%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$42.26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$3.25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14:00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37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37333"/>
                          </a:solidFill>
                          <a:latin typeface="Arial"/>
                        </a:rPr>
                        <a:t>13.00%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$39.38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$3.03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15:00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37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37333"/>
                          </a:solidFill>
                          <a:latin typeface="Arial"/>
                        </a:rPr>
                        <a:t>11.10%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$35.94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$3.60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16:00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37333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37333"/>
                          </a:solidFill>
                          <a:latin typeface="Arial"/>
                        </a:rPr>
                        <a:t>11.11%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$34.31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$3.81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17:00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C5221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C5221F"/>
                          </a:solidFill>
                          <a:latin typeface="Arial"/>
                        </a:rPr>
                        <a:t>4.08%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$18.14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$9.07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18:00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C5221F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C5221F"/>
                          </a:solidFill>
                          <a:latin typeface="Arial"/>
                        </a:rPr>
                        <a:t>0.00%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$8.68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19088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13–16 часов: конверсия 11–13%. 9–10 и 17–18 часов: 4–7%. 18:00 — 24 клика и ноль конверсий за все 14 дней, расход $8.68.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Arial"/>
              </a:rPr>
              <a:t>ДНИ НЕДЕЛИ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6181D"/>
                </a:solidFill>
                <a:latin typeface="Arial"/>
              </a:rPr>
              <a:t>Наблюдение, а не вывод: данных мало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070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ДАСТО — СТО · 6–23.10.2026 · 14 рабочих дней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83112" cy="12700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508760"/>
          <a:ext cx="685800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0" y="1600200"/>
          <a:ext cx="4096509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014"/>
                <a:gridCol w="754620"/>
                <a:gridCol w="700719"/>
                <a:gridCol w="754620"/>
                <a:gridCol w="646817"/>
                <a:gridCol w="700719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День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Наблюдений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Всего конв.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Среднее/день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Разброс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Цена конв.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Пн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C5221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3–3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$9.64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Вт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7.0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3–11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$4.87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Ср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7.7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4–10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$4.40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Чт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6.7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4–9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$5.18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Пт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8.3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1–15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$3.96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206240"/>
            <a:ext cx="11183112" cy="182880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4206240"/>
            <a:ext cx="38100" cy="1828800"/>
          </a:xfrm>
          <a:prstGeom prst="rect">
            <a:avLst/>
          </a:prstGeom>
          <a:solidFill>
            <a:srgbClr val="B0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4325112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6181D"/>
                </a:solidFill>
                <a:latin typeface="Arial"/>
              </a:rPr>
              <a:t>Почему здесь нет вывода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4626864"/>
            <a:ext cx="1081735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6181D"/>
                </a:solidFill>
                <a:latin typeface="Arial"/>
              </a:rPr>
              <a:t/>
            </a:r>
            <a:r>
              <a:rPr sz="1000">
                <a:solidFill>
                  <a:srgbClr val="16181D"/>
                </a:solidFill>
                <a:latin typeface="Arial"/>
              </a:rPr>
              <a:t>•  Понедельников в выборке всего два: 12 и 19 октября. Оба дали по 3 конверсии при среднем 7,4 по остальным дням.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Два наблюдения — это совпадение ровно настолько же, насколько закономерность. Менять ставки на основании двух дней нельзя.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У остальных дней по 3 наблюдения и разброс внутри дня больше, чем разница между днями: у пятницы 1–15, у вторника 3–11.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Что делать: ничего не трогать и вернуться к этому через 3–4 недели, когда наблюдений станет 6–8 на день.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Arial"/>
              </a:rPr>
              <a:t>КЛЮЧИ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6181D"/>
                </a:solidFill>
                <a:latin typeface="Arial"/>
              </a:rPr>
              <a:t>Ключи, которые потратили и не дали ничего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070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ДАСТО — СТО · 6–23.10.2026 · 14 рабочих дней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83112" cy="12700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36192"/>
            <a:ext cx="2686050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64207"/>
            <a:ext cx="241173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C5221F"/>
                </a:solidFill>
                <a:latin typeface="Arial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03120"/>
            <a:ext cx="24117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ключей без конверсий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5274" y="1536192"/>
            <a:ext cx="2686050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9866" y="1664207"/>
            <a:ext cx="241173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C5221F"/>
                </a:solidFill>
                <a:latin typeface="Arial"/>
              </a:rPr>
              <a:t>$102.60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9866" y="2103120"/>
            <a:ext cx="24117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потрачено за 14 дней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7628" y="1536192"/>
            <a:ext cx="2686050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2220" y="1664207"/>
            <a:ext cx="241173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6181D"/>
                </a:solidFill>
                <a:latin typeface="Arial"/>
              </a:rPr>
              <a:t>$36.64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2220" y="2103120"/>
            <a:ext cx="24117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в неделю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9982" y="1536192"/>
            <a:ext cx="2686050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4574" y="1664207"/>
            <a:ext cx="241173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37333"/>
                </a:solidFill>
                <a:latin typeface="Arial"/>
              </a:rPr>
              <a:t>+8.9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4574" y="2103120"/>
            <a:ext cx="24117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конверсий/нед при переносе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2697480"/>
          <a:ext cx="1118311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2762"/>
                <a:gridCol w="2966948"/>
                <a:gridCol w="1369360"/>
                <a:gridCol w="1141133"/>
                <a:gridCol w="912907"/>
              </a:tblGrid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Ключ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QS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проточка тормозных дисков минск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Проточка тормозных дис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$10.77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корректировка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$10.02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ремонт глушителей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Ремонт глушителя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$9.06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диагностика подвески минск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Ремонт подвески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$6.86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ремонт глушителей минск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Ремонт глушителя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$6.26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ремонт подвески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Ремонт подвески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$5.43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C5221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развал схождение цена минск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$5.30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C5221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регулировка света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$4.28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ремонт французских авто минск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$3.94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ремонт двигателя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Ремонт ДВС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$3.73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диагностика двигателя минск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Ремонт ДВС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$3.66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проточить тормозные диски минск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Проточка тормозных дис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$3.57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капитальный ремонт двигателей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Ремонт ДВС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$3.34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ремонт блока цилиндров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Ремонт ДВС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$3.21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ремонт глушителя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Ремонт глушителя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$2.96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6181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02920" y="6309360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Порог — расход от $2 за 14 дней. Перенос этих денег в работающие ключи считается по текущей цене конверсии на телефонах.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Arial"/>
              </a:rPr>
              <a:t>КАЧЕСТВО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6181D"/>
                </a:solidFill>
                <a:latin typeface="Arial"/>
              </a:rPr>
              <a:t>Посадочная ниже среднего у 110 ключей из 256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070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ДАСТО — СТО · 6–23.10.2026 · 14 рабочих дней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83112" cy="12700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36192"/>
            <a:ext cx="2686050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64207"/>
            <a:ext cx="241173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C5221F"/>
                </a:solidFill>
                <a:latin typeface="Arial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03120"/>
            <a:ext cx="24117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ключей с LP ниже среднего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5274" y="1536192"/>
            <a:ext cx="2686050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9866" y="1664207"/>
            <a:ext cx="241173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C5221F"/>
                </a:solidFill>
                <a:latin typeface="Arial"/>
              </a:rPr>
              <a:t>$347.55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9866" y="2103120"/>
            <a:ext cx="24117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расход на них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7628" y="1536192"/>
            <a:ext cx="2686050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2220" y="1664207"/>
            <a:ext cx="241173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C5221F"/>
                </a:solidFill>
                <a:latin typeface="Arial"/>
              </a:rPr>
              <a:t>75%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2220" y="2103120"/>
            <a:ext cx="24117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от всего расхода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9982" y="1536192"/>
            <a:ext cx="2686050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4574" y="1664207"/>
            <a:ext cx="241173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6181D"/>
                </a:solidFill>
                <a:latin typeface="Arial"/>
              </a:rPr>
              <a:t>5.97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4574" y="2103120"/>
            <a:ext cx="24117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средний QS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2920" y="2697480"/>
          <a:ext cx="11183112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02920" y="4983480"/>
            <a:ext cx="11183112" cy="146304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983480"/>
            <a:ext cx="38100" cy="1463040"/>
          </a:xfrm>
          <a:prstGeom prst="rect">
            <a:avLst/>
          </a:prstGeom>
          <a:solidFill>
            <a:srgbClr val="B0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5102352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6181D"/>
                </a:solidFill>
                <a:latin typeface="Arial"/>
              </a:rPr>
              <a:t>Что это значит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5404104"/>
            <a:ext cx="108173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6181D"/>
                </a:solidFill>
                <a:latin typeface="Arial"/>
              </a:rPr>
              <a:t/>
            </a:r>
            <a:r>
              <a:rPr sz="1000">
                <a:solidFill>
                  <a:srgbClr val="16181D"/>
                </a:solidFill>
                <a:latin typeface="Arial"/>
              </a:rPr>
              <a:t>•  LP ниже среднего — оценка Google: страница, на которую ведёт ключ, слабее, чем у конкурентов по этому же запросу.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Это главная причина потерь по рангу. Поднять ставку можно, но платить придётся больше за ту же позицию.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Хуже всего у Регулировки фар ($85,45 на 12 ключей) и Развала ($83,98 на 13 ключей) — при том что сами кампании рабочие.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Arial"/>
              </a:rPr>
              <a:t>ФАРЫ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6181D"/>
                </a:solidFill>
                <a:latin typeface="Arial"/>
              </a:rPr>
              <a:t>Разбор групп: дублирования нет, проблема в одном ключе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070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ДАСТО — СТО · 6–23.10.2026 · 14 рабочих дней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83112" cy="12700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54480"/>
          <a:ext cx="5486396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7446"/>
                <a:gridCol w="703384"/>
                <a:gridCol w="914399"/>
                <a:gridCol w="703384"/>
                <a:gridCol w="703384"/>
                <a:gridCol w="914399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Группа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Ключей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Конв.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Цена конв.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$68.02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17.2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$3.96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Настройка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$35.95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5.8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$6.16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ПТФ и линзы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$2.45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$2.45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99632" y="1554480"/>
          <a:ext cx="5486398" cy="3031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805"/>
                <a:gridCol w="1175657"/>
                <a:gridCol w="862148"/>
                <a:gridCol w="705394"/>
                <a:gridCol w="705394"/>
              </a:tblGrid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Ключ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Группа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Конв.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$23.72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3.5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регулировка фар минск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$20.34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4.5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настройка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Настройка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$13.96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корректировка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Настройка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$10.02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C5221F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коррекция фар минск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Настройка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$9.23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3.3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отрегулировать фары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$6.08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4.7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регулировка света фар минск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$5.77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регулировка света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$4.28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C5221F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регулировка фар в минске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$2.79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корректировка фар минск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Настройка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$2.29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регулировка фар минск стоимость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$2.20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регулировка противотуманных фар 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ПТФ и линзы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$2.03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6181D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206240"/>
            <a:ext cx="11183112" cy="2011680"/>
          </a:xfrm>
          <a:prstGeom prst="roundRect">
            <a:avLst>
              <a:gd name="adj" fmla="val 6000"/>
            </a:avLst>
          </a:prstGeom>
          <a:solidFill>
            <a:srgbClr val="F1F8F3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4206240"/>
            <a:ext cx="38100" cy="201168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4325112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6181D"/>
                </a:solidFill>
                <a:latin typeface="Arial"/>
              </a:rPr>
              <a:t>Что я сказал в прошлый раз и почему это было неверно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4626864"/>
            <a:ext cx="1081735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6181D"/>
                </a:solidFill>
                <a:latin typeface="Arial"/>
              </a:rPr>
              <a:t/>
            </a:r>
            <a:r>
              <a:rPr sz="1000">
                <a:solidFill>
                  <a:srgbClr val="16181D"/>
                </a:solidFill>
                <a:latin typeface="Arial"/>
              </a:rPr>
              <a:t>•  Говорил: «Настройка фар дублирует Регулировку фар, слить в одну». Посмотрел ключи — пересечений нет. В Регулировке — регулировка фар, регулировка света фар, отрегулировать фары. В Настройке — настройка фар, корректировка, коррекция.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Это разные формулировки одного запроса, и разделение сделано правильно: так видно, какая формулировка работает.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Реальная проблема точечная: ключ «корректировка фар» — $10,02, 18 кликов, ноль конверсий. Это 28% расхода группы.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Рядом «коррекция фар минск» за $9,23 дал 3,3 конверсии. Разница в одном слове, а не в группе.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Arial"/>
              </a:rPr>
              <a:t>ПРИРОСТ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6181D"/>
                </a:solidFill>
                <a:latin typeface="Arial"/>
              </a:rPr>
              <a:t>Сколько даст бюджет и сколько — перенос денег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070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ДАСТО — СТО · 6–23.10.2026 · 14 рабочих дней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83112" cy="12700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54480"/>
          <a:ext cx="1118311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0957"/>
                <a:gridCol w="2007225"/>
                <a:gridCol w="1624896"/>
                <a:gridCol w="1338150"/>
                <a:gridCol w="1338150"/>
                <a:gridCol w="1433732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Что делаем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Сейчас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Станет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+клики/14дн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+конв/нед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+расход/день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Развал-схождение: потеря по бюджету → 20%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доля 51.6%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доля 75.5%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+119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37333"/>
                          </a:solidFill>
                          <a:latin typeface="Arial"/>
                        </a:rPr>
                        <a:t>+2.6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+$2.93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Развал-схождение: потеря по бюджету → 0%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доля 51.6%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доля 95.5%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+219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37333"/>
                          </a:solidFill>
                          <a:latin typeface="Arial"/>
                        </a:rPr>
                        <a:t>+4.9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+$5.38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СТО — По маркам: потеря по бюджету → 0%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доля 43.8%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доля 62.7%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+130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37333"/>
                          </a:solidFill>
                          <a:latin typeface="Arial"/>
                        </a:rPr>
                        <a:t>+5.4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+$2.94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Отключить компьютеры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3 конв за $81.59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19.8 конв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37333"/>
                          </a:solidFill>
                          <a:latin typeface="Arial"/>
                        </a:rPr>
                        <a:t>+6.0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Убрать 23 пустых ключа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$102.60 в никуда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24.9 конв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37333"/>
                          </a:solidFill>
                          <a:latin typeface="Arial"/>
                        </a:rPr>
                        <a:t>+8.9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Отключить показы с 18:00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$8.68, 0 конв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2.1 конв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37333"/>
                          </a:solidFill>
                          <a:latin typeface="Arial"/>
                        </a:rPr>
                        <a:t>+0.8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-$0.62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14800"/>
            <a:ext cx="11183112" cy="2103120"/>
          </a:xfrm>
          <a:prstGeom prst="roundRect">
            <a:avLst>
              <a:gd name="adj" fmla="val 6000"/>
            </a:avLst>
          </a:prstGeom>
          <a:solidFill>
            <a:srgbClr val="F1F8F3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114800"/>
            <a:ext cx="38100" cy="210312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4233672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6181D"/>
                </a:solidFill>
                <a:latin typeface="Arial"/>
              </a:rPr>
              <a:t>Итог без роста бюджета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535424"/>
            <a:ext cx="10817352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6181D"/>
                </a:solidFill>
                <a:latin typeface="Arial"/>
              </a:rPr>
              <a:t/>
            </a:r>
            <a:r>
              <a:rPr sz="1000">
                <a:solidFill>
                  <a:srgbClr val="16181D"/>
                </a:solidFill>
                <a:latin typeface="Arial"/>
              </a:rPr>
              <a:t>•  Сейчас: 33.9 конверсий в неделю при расходе $165.70.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Перенос денег с компьютеров, пустых ключей и вечерних часов: +15.6 конверсий в неделю на тех же деньгах.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Это 46% прироста. Цена конверсии уйдёт примерно с $4.88 к $3.34.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Бюджет на Развал-схождение — отдельно: +4,9 конверсий в неделю при +$5,38 в день. Окупается, но это уже новые деньги.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Все цифры — оценка при сохранении текущих показателей. Проверять по одному изменению за раз.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Arial"/>
              </a:rPr>
              <a:t>ПЛАН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6181D"/>
                </a:solidFill>
                <a:latin typeface="Arial"/>
              </a:rPr>
              <a:t>По шагам, по одному изменению за раз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070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ДАСТО — СТО · 6–23.10.2026 · 14 рабочих дней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83112" cy="12700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FDF3F2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38100" cy="237744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7335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6181D"/>
                </a:solidFill>
                <a:latin typeface="Arial"/>
              </a:rPr>
              <a:t>ШАГ 1 · на этой неделе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75104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6181D"/>
                </a:solidFill>
                <a:latin typeface="Arial"/>
              </a:rPr>
              <a:t/>
            </a:r>
            <a:r>
              <a:rPr sz="1000">
                <a:solidFill>
                  <a:srgbClr val="16181D"/>
                </a:solidFill>
                <a:latin typeface="Arial"/>
              </a:rPr>
              <a:t>•  Компьютеры: ставка -80% или отключить.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Показы с 18:00 выключить.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23 пустых ключа в минус-слова.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Ждать неделю, не трогать остальное.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55448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FDF8F0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88536" y="1554480"/>
            <a:ext cx="38100" cy="2377440"/>
          </a:xfrm>
          <a:prstGeom prst="rect">
            <a:avLst/>
          </a:prstGeom>
          <a:solidFill>
            <a:srgbClr val="B0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167335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6181D"/>
                </a:solidFill>
                <a:latin typeface="Arial"/>
              </a:rPr>
              <a:t>ШАГ 2 · после замера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1975104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6181D"/>
                </a:solidFill>
                <a:latin typeface="Arial"/>
              </a:rPr>
              <a:t/>
            </a:r>
            <a:r>
              <a:rPr sz="1000">
                <a:solidFill>
                  <a:srgbClr val="16181D"/>
                </a:solidFill>
                <a:latin typeface="Arial"/>
              </a:rPr>
              <a:t>•  Развал-схождение: бюджет +30%.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Цель — потеря по бюджету ниже 20%.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Следить за ценой конверсии: не выше $6.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Ещё неделя на замер.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155448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FF4FE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4152" y="1554480"/>
            <a:ext cx="38100" cy="23774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67335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6181D"/>
                </a:solidFill>
                <a:latin typeface="Arial"/>
              </a:rPr>
              <a:t>ШАГ 3 · дольше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75104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6181D"/>
                </a:solidFill>
                <a:latin typeface="Arial"/>
              </a:rPr>
              <a:t/>
            </a:r>
            <a:r>
              <a:rPr sz="1000">
                <a:solidFill>
                  <a:srgbClr val="16181D"/>
                </a:solidFill>
                <a:latin typeface="Arial"/>
              </a:rPr>
              <a:t>•  Посадочные под Регулировку и Развал.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110 ключей с LP ниже среднего.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Это снимет потери по рангу.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Эффект через 3–4 недели.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14800"/>
            <a:ext cx="11183112" cy="21031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114800"/>
            <a:ext cx="38100" cy="21031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233672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6181D"/>
                </a:solidFill>
                <a:latin typeface="Arial"/>
              </a:rPr>
              <a:t>Чего делать не нужно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535424"/>
            <a:ext cx="10817352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6181D"/>
                </a:solidFill>
                <a:latin typeface="Arial"/>
              </a:rPr>
              <a:t/>
            </a:r>
            <a:r>
              <a:rPr sz="1000">
                <a:solidFill>
                  <a:srgbClr val="16181D"/>
                </a:solidFill>
                <a:latin typeface="Arial"/>
              </a:rPr>
              <a:t>•  Не менять ставки по дням недели: два понедельника — не основание.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Не сливать группы по фарам: они разделены правильно, проблема в одном ключе.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Не доливать бюджет в СТО — Общая и Ремонт подвески: там потери по рангу, деньги уйдут в ту же стену.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16181D"/>
                </a:solidFill>
                <a:latin typeface="Arial"/>
              </a:rPr>
              <a:t>•  Не менять больше одной вещи за раз — иначе не поймём, что сработало.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Arial"/>
              </a:rPr>
              <a:t>ЗАКОНОМЕРНОСТИ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6181D"/>
                </a:solidFill>
                <a:latin typeface="Arial"/>
              </a:rPr>
              <a:t>Что видно в данных и насколько этому можно верить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070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ДАСТО — СТО · 6–23.10.2026 · 14 рабочих дней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83112" cy="12700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54480"/>
          <a:ext cx="1118311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3960"/>
                <a:gridCol w="4634442"/>
                <a:gridCol w="1511231"/>
                <a:gridCol w="1813477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Наблюдение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Доказательство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Наблюдений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6B7280"/>
                          </a:solidFill>
                          <a:latin typeface="Arial"/>
                        </a:rPr>
                        <a:t>Статус</a:t>
                      </a:r>
                    </a:p>
                  </a:txBody>
                  <a:tcPr marL="64008" marR="64008" marT="0" marB="0" anchor="ctr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Компьютеры не конвертят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186 кликов → 3 конв, CR 1,61% против 10,21%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14 дней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37333"/>
                          </a:solidFill>
                          <a:latin typeface="Arial"/>
                        </a:rPr>
                        <a:t>подтверждено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Дневной пик 13–16 часов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CR 11–13% против 4–7% утром и вечером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14 дней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37333"/>
                          </a:solidFill>
                          <a:latin typeface="Arial"/>
                        </a:rPr>
                        <a:t>подтверждено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18:00 — мёртвый час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24 клика, 0 конверсий за весь период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14 дней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37333"/>
                          </a:solidFill>
                          <a:latin typeface="Arial"/>
                        </a:rPr>
                        <a:t>подтверждено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Развал упирается в бюджет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потеря по бюджету 43,9%, по рангу 4,5%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14 дней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37333"/>
                          </a:solidFill>
                          <a:latin typeface="Arial"/>
                        </a:rPr>
                        <a:t>подтверждено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Посадочные слабые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110 из 256 ключей с LP ниже среднего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весь период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37333"/>
                          </a:solidFill>
                          <a:latin typeface="Arial"/>
                        </a:rPr>
                        <a:t>подтверждено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Понедельник слабее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2 наблюдения: 3 и 3 конверсии против 7,4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2 дня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B06000"/>
                          </a:solidFill>
                          <a:latin typeface="Arial"/>
                        </a:rPr>
                        <a:t>мало данных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Группы фар дублируются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пересечений в ключах нет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5221F"/>
                          </a:solidFill>
                          <a:latin typeface="Arial"/>
                        </a:rPr>
                        <a:t>опровергнуто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Ключи без «минск» хуже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CR 8,54% против 8,87% — разницы нет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6181D"/>
                          </a:solidFill>
                          <a:latin typeface="Arial"/>
                        </a:rPr>
                        <a:t>256 ключей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5221F"/>
                          </a:solidFill>
                          <a:latin typeface="Arial"/>
                        </a:rPr>
                        <a:t>опровергнуто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120640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«Подтверждено» — паттерн держится все 14 дней и разница больше внутридневного разброса. «Мало данных» — наблюдений меньше трёх, решение откладывается. «Опровергнуто» — проверил и не нашёл основания, вывод снят.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