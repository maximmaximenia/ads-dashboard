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Звонки в день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1.0</c:v>
                </c:pt>
                <c:pt idx="2">
                  <c:v>0.0</c:v>
                </c:pt>
                <c:pt idx="3">
                  <c:v>3.0</c:v>
                </c:pt>
                <c:pt idx="4">
                  <c:v>4.0</c:v>
                </c:pt>
                <c:pt idx="5">
                  <c:v>0.0</c:v>
                </c:pt>
                <c:pt idx="6">
                  <c:v>1.0</c:v>
                </c:pt>
                <c:pt idx="7">
                  <c:v>0.0</c:v>
                </c:pt>
                <c:pt idx="8">
                  <c:v>1.0</c:v>
                </c:pt>
                <c:pt idx="9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3.0</c:v>
                </c:pt>
                <c:pt idx="7">
                  <c:v>2.0</c:v>
                </c:pt>
                <c:pt idx="8">
                  <c:v>4.0</c:v>
                </c:pt>
                <c:pt idx="9">
                  <c:v>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4.0</c:v>
                </c:pt>
                <c:pt idx="4">
                  <c:v>2.0</c:v>
                </c:pt>
                <c:pt idx="5">
                  <c:v>4.0</c:v>
                </c:pt>
                <c:pt idx="6">
                  <c:v>2.0</c:v>
                </c:pt>
                <c:pt idx="7">
                  <c:v>0.0</c:v>
                </c:pt>
                <c:pt idx="8">
                  <c:v>1.0</c:v>
                </c:pt>
                <c:pt idx="9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2.0</c:v>
                </c:pt>
                <c:pt idx="1">
                  <c:v>0.0</c:v>
                </c:pt>
                <c:pt idx="2">
                  <c:v>1.0</c:v>
                </c:pt>
                <c:pt idx="3">
                  <c:v>1.0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CPA в день, $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1">
                  <c:v>7.67</c:v>
                </c:pt>
                <c:pt idx="3">
                  <c:v>1.96</c:v>
                </c:pt>
                <c:pt idx="4">
                  <c:v>1.61</c:v>
                </c:pt>
                <c:pt idx="6">
                  <c:v>6.47</c:v>
                </c:pt>
                <c:pt idx="8">
                  <c:v>3.94</c:v>
                </c:pt>
                <c:pt idx="9">
                  <c:v>4.08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6.83</c:v>
                </c:pt>
                <c:pt idx="3">
                  <c:v>2.65</c:v>
                </c:pt>
                <c:pt idx="4">
                  <c:v>3.33</c:v>
                </c:pt>
                <c:pt idx="5">
                  <c:v>2.33</c:v>
                </c:pt>
                <c:pt idx="6">
                  <c:v>2.32</c:v>
                </c:pt>
                <c:pt idx="7">
                  <c:v>2.48</c:v>
                </c:pt>
                <c:pt idx="8">
                  <c:v>4.33</c:v>
                </c:pt>
                <c:pt idx="9">
                  <c:v>4.48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3">
                  <c:v>1.94</c:v>
                </c:pt>
                <c:pt idx="4">
                  <c:v>3.85</c:v>
                </c:pt>
                <c:pt idx="5">
                  <c:v>1.12</c:v>
                </c:pt>
                <c:pt idx="6">
                  <c:v>4.6</c:v>
                </c:pt>
                <c:pt idx="8">
                  <c:v>9.59</c:v>
                </c:pt>
                <c:pt idx="9">
                  <c:v>3.33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2.49</c:v>
                </c:pt>
                <c:pt idx="2">
                  <c:v>5.91</c:v>
                </c:pt>
                <c:pt idx="3">
                  <c:v>3.53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$0.0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Потеряно по бюджету,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34.7</c:v>
                </c:pt>
                <c:pt idx="1">
                  <c:v>25.0</c:v>
                </c:pt>
                <c:pt idx="2">
                  <c:v>61.3</c:v>
                </c:pt>
                <c:pt idx="3">
                  <c:v>48.2</c:v>
                </c:pt>
                <c:pt idx="4">
                  <c:v>41.4</c:v>
                </c:pt>
                <c:pt idx="5">
                  <c:v>56.6</c:v>
                </c:pt>
                <c:pt idx="6">
                  <c:v>64.7</c:v>
                </c:pt>
                <c:pt idx="7">
                  <c:v>50.2</c:v>
                </c:pt>
                <c:pt idx="8">
                  <c:v>46.8</c:v>
                </c:pt>
                <c:pt idx="9">
                  <c:v>12.9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37.8</c:v>
                </c:pt>
                <c:pt idx="3">
                  <c:v>63.5</c:v>
                </c:pt>
                <c:pt idx="4">
                  <c:v>10.7</c:v>
                </c:pt>
                <c:pt idx="5">
                  <c:v>0.0</c:v>
                </c:pt>
                <c:pt idx="6">
                  <c:v>38.7</c:v>
                </c:pt>
                <c:pt idx="7">
                  <c:v>0.0</c:v>
                </c:pt>
                <c:pt idx="8">
                  <c:v>0.0</c:v>
                </c:pt>
                <c:pt idx="9">
                  <c:v>10.9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28.0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17.3</c:v>
                </c:pt>
                <c:pt idx="5">
                  <c:v>0.0</c:v>
                </c:pt>
                <c:pt idx="6">
                  <c:v>17.2</c:v>
                </c:pt>
                <c:pt idx="7">
                  <c:v>15.2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16.3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Потеряно по рангу,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1.5</c:v>
                </c:pt>
                <c:pt idx="5">
                  <c:v>3.3</c:v>
                </c:pt>
                <c:pt idx="6">
                  <c:v>1.0</c:v>
                </c:pt>
                <c:pt idx="7">
                  <c:v>0.9</c:v>
                </c:pt>
                <c:pt idx="8">
                  <c:v>8.1</c:v>
                </c:pt>
                <c:pt idx="9">
                  <c:v>21.3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27.1</c:v>
                </c:pt>
                <c:pt idx="3">
                  <c:v>5.2</c:v>
                </c:pt>
                <c:pt idx="4">
                  <c:v>54.7</c:v>
                </c:pt>
                <c:pt idx="5">
                  <c:v>54.4</c:v>
                </c:pt>
                <c:pt idx="6">
                  <c:v>33.4</c:v>
                </c:pt>
                <c:pt idx="7">
                  <c:v>49.0</c:v>
                </c:pt>
                <c:pt idx="8">
                  <c:v>30.7</c:v>
                </c:pt>
                <c:pt idx="9">
                  <c:v>41.0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</c:v>
                </c:pt>
                <c:pt idx="1">
                  <c:v>14.3</c:v>
                </c:pt>
                <c:pt idx="2">
                  <c:v>40.0</c:v>
                </c:pt>
                <c:pt idx="3">
                  <c:v>38.1</c:v>
                </c:pt>
                <c:pt idx="4">
                  <c:v>26.4</c:v>
                </c:pt>
                <c:pt idx="5">
                  <c:v>44.4</c:v>
                </c:pt>
                <c:pt idx="6">
                  <c:v>33.7</c:v>
                </c:pt>
                <c:pt idx="7">
                  <c:v>24.3</c:v>
                </c:pt>
                <c:pt idx="8">
                  <c:v>33.3</c:v>
                </c:pt>
                <c:pt idx="9">
                  <c:v>29.8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0.0</c:v>
                </c:pt>
                <c:pt idx="1">
                  <c:v>8.6</c:v>
                </c:pt>
                <c:pt idx="2">
                  <c:v>29.6</c:v>
                </c:pt>
                <c:pt idx="3">
                  <c:v>35.6</c:v>
                </c:pt>
                <c:pt idx="4">
                  <c:v>30.0</c:v>
                </c:pt>
                <c:pt idx="5">
                  <c:v>24.6</c:v>
                </c:pt>
                <c:pt idx="6">
                  <c:v>31.3</c:v>
                </c:pt>
                <c:pt idx="7">
                  <c:v>30.3</c:v>
                </c:pt>
                <c:pt idx="8">
                  <c:v>36.5</c:v>
                </c:pt>
                <c:pt idx="9">
                  <c:v>42.5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Доля показов (выкуп),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64.9</c:v>
                </c:pt>
                <c:pt idx="1">
                  <c:v>75.0</c:v>
                </c:pt>
                <c:pt idx="2">
                  <c:v>38.7</c:v>
                </c:pt>
                <c:pt idx="3">
                  <c:v>51.8</c:v>
                </c:pt>
                <c:pt idx="4">
                  <c:v>57.1</c:v>
                </c:pt>
                <c:pt idx="5">
                  <c:v>40.1</c:v>
                </c:pt>
                <c:pt idx="6">
                  <c:v>34.3</c:v>
                </c:pt>
                <c:pt idx="7">
                  <c:v>48.9</c:v>
                </c:pt>
                <c:pt idx="8">
                  <c:v>45.1</c:v>
                </c:pt>
                <c:pt idx="9">
                  <c:v>65.8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35.1</c:v>
                </c:pt>
                <c:pt idx="3">
                  <c:v>31.3</c:v>
                </c:pt>
                <c:pt idx="4">
                  <c:v>34.6</c:v>
                </c:pt>
                <c:pt idx="5">
                  <c:v>45.6</c:v>
                </c:pt>
                <c:pt idx="6">
                  <c:v>27.9</c:v>
                </c:pt>
                <c:pt idx="7">
                  <c:v>51.0</c:v>
                </c:pt>
                <c:pt idx="8">
                  <c:v>69.3</c:v>
                </c:pt>
                <c:pt idx="9">
                  <c:v>48.1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72.0</c:v>
                </c:pt>
                <c:pt idx="1">
                  <c:v>85.7</c:v>
                </c:pt>
                <c:pt idx="2">
                  <c:v>60.0</c:v>
                </c:pt>
                <c:pt idx="3">
                  <c:v>61.9</c:v>
                </c:pt>
                <c:pt idx="4">
                  <c:v>56.4</c:v>
                </c:pt>
                <c:pt idx="5">
                  <c:v>55.6</c:v>
                </c:pt>
                <c:pt idx="6">
                  <c:v>49.1</c:v>
                </c:pt>
                <c:pt idx="7">
                  <c:v>60.5</c:v>
                </c:pt>
                <c:pt idx="8">
                  <c:v>66.7</c:v>
                </c:pt>
                <c:pt idx="9">
                  <c:v>70.2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83.7</c:v>
                </c:pt>
                <c:pt idx="1">
                  <c:v>91.4</c:v>
                </c:pt>
                <c:pt idx="2">
                  <c:v>70.4</c:v>
                </c:pt>
                <c:pt idx="3">
                  <c:v>64.4</c:v>
                </c:pt>
                <c:pt idx="4">
                  <c:v>70.0</c:v>
                </c:pt>
                <c:pt idx="5">
                  <c:v>75.4</c:v>
                </c:pt>
                <c:pt idx="6">
                  <c:v>68.7</c:v>
                </c:pt>
                <c:pt idx="7">
                  <c:v>69.7</c:v>
                </c:pt>
                <c:pt idx="8">
                  <c:v>63.5</c:v>
                </c:pt>
                <c:pt idx="9">
                  <c:v>57.5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Топ страницы,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51.1</c:v>
                </c:pt>
                <c:pt idx="1">
                  <c:v>67.0</c:v>
                </c:pt>
                <c:pt idx="2">
                  <c:v>27.6</c:v>
                </c:pt>
                <c:pt idx="3">
                  <c:v>38.8</c:v>
                </c:pt>
                <c:pt idx="4">
                  <c:v>43.5</c:v>
                </c:pt>
                <c:pt idx="5">
                  <c:v>30.0</c:v>
                </c:pt>
                <c:pt idx="6">
                  <c:v>28.7</c:v>
                </c:pt>
                <c:pt idx="7">
                  <c:v>39.2</c:v>
                </c:pt>
                <c:pt idx="8">
                  <c:v>32.1</c:v>
                </c:pt>
                <c:pt idx="9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28.7</c:v>
                </c:pt>
                <c:pt idx="3">
                  <c:v>22.9</c:v>
                </c:pt>
                <c:pt idx="4">
                  <c:v>27.4</c:v>
                </c:pt>
                <c:pt idx="5">
                  <c:v>36.7</c:v>
                </c:pt>
                <c:pt idx="6">
                  <c:v>21.0</c:v>
                </c:pt>
                <c:pt idx="7">
                  <c:v>47.0</c:v>
                </c:pt>
                <c:pt idx="8">
                  <c:v>59.3</c:v>
                </c:pt>
                <c:pt idx="9">
                  <c:v>37.6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64.5</c:v>
                </c:pt>
                <c:pt idx="1">
                  <c:v>66.7</c:v>
                </c:pt>
                <c:pt idx="2">
                  <c:v>47.1</c:v>
                </c:pt>
                <c:pt idx="3">
                  <c:v>50.5</c:v>
                </c:pt>
                <c:pt idx="4">
                  <c:v>48.2</c:v>
                </c:pt>
                <c:pt idx="5">
                  <c:v>49.7</c:v>
                </c:pt>
                <c:pt idx="6">
                  <c:v>38.0</c:v>
                </c:pt>
                <c:pt idx="7">
                  <c:v>48.1</c:v>
                </c:pt>
                <c:pt idx="8">
                  <c:v>57.9</c:v>
                </c:pt>
                <c:pt idx="9">
                  <c:v>54.0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81.6</c:v>
                </c:pt>
                <c:pt idx="1">
                  <c:v>82.9</c:v>
                </c:pt>
                <c:pt idx="2">
                  <c:v>53.7</c:v>
                </c:pt>
                <c:pt idx="3">
                  <c:v>55.9</c:v>
                </c:pt>
                <c:pt idx="4">
                  <c:v>68.6</c:v>
                </c:pt>
                <c:pt idx="5">
                  <c:v>72.3</c:v>
                </c:pt>
                <c:pt idx="6">
                  <c:v>61.2</c:v>
                </c:pt>
                <c:pt idx="7">
                  <c:v>60.6</c:v>
                </c:pt>
                <c:pt idx="8">
                  <c:v>55.6</c:v>
                </c:pt>
                <c:pt idx="9">
                  <c:v>47.5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Абсолютный топ,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10.8</c:v>
                </c:pt>
                <c:pt idx="1">
                  <c:v>25.9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18.7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10.0</c:v>
                </c:pt>
                <c:pt idx="7">
                  <c:v>10.0</c:v>
                </c:pt>
                <c:pt idx="8">
                  <c:v>17.8</c:v>
                </c:pt>
                <c:pt idx="9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29.0</c:v>
                </c:pt>
                <c:pt idx="1">
                  <c:v>42.9</c:v>
                </c:pt>
                <c:pt idx="2">
                  <c:v>29.4</c:v>
                </c:pt>
                <c:pt idx="3">
                  <c:v>31.4</c:v>
                </c:pt>
                <c:pt idx="4">
                  <c:v>22.7</c:v>
                </c:pt>
                <c:pt idx="5">
                  <c:v>20.3</c:v>
                </c:pt>
                <c:pt idx="6">
                  <c:v>28.2</c:v>
                </c:pt>
                <c:pt idx="7">
                  <c:v>21.0</c:v>
                </c:pt>
                <c:pt idx="8">
                  <c:v>34.2</c:v>
                </c:pt>
                <c:pt idx="9">
                  <c:v>33.9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ln w="22860">
              <a:solidFill>
                <a:srgbClr val="6E6E73"/>
              </a:solidFill>
            </a:ln>
          </c:spPr>
          <c:marker>
            <c:symbol val="circle"/>
            <c:size val="4"/>
            <c:spPr>
              <a:solidFill>
                <a:srgbClr val="6E6E73"/>
              </a:solidFill>
              <a:ln>
                <a:solidFill>
                  <a:srgbClr val="6E6E7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26.5</c:v>
                </c:pt>
                <c:pt idx="1">
                  <c:v>22.9</c:v>
                </c:pt>
                <c:pt idx="2">
                  <c:v>10.0</c:v>
                </c:pt>
                <c:pt idx="3">
                  <c:v>16.9</c:v>
                </c:pt>
                <c:pt idx="4">
                  <c:v>10.0</c:v>
                </c:pt>
                <c:pt idx="5">
                  <c:v>10.0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8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E6E6E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 /  ДАСТО - СТО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Дневная динамика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и где теряем трафик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E6E6"/>
                </a:solidFill>
                <a:latin typeface="Arial"/>
              </a:rPr>
              <a:t>4 активные кампании · 8–21 октября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033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9B9"/>
                </a:solidFill>
                <a:latin typeface="Arial"/>
              </a:rPr>
              <a:t>звонки · CPA · потеря по бюджету · потеря по рангу · аукцион · прирост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22.10.2026 · в аккаунте ничего не менял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показывают дни: рост объёма и рост CPA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6060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31343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19656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звонков 13–21.10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34440"/>
            <a:ext cx="26060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325880"/>
            <a:ext cx="231343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$3,82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819656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CPA 13–21.10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234440"/>
            <a:ext cx="26060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325880"/>
            <a:ext cx="231343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$179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1819656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расход 13–21.10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234440"/>
            <a:ext cx="2606040" cy="932688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1325880"/>
            <a:ext cx="231343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819656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звонков за 30 дней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468880"/>
            <a:ext cx="56235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13–21 октября: 47 звонков, $179, CPA $3,82. За 30 дней — 58 звонков, CPA $4,62.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17–18 октября кампании не работали; 19-е — провал (2 звонка), 20–21-е восстановление (6 и 8).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Рост бюджета дал объём, но CPA вырос: $3,42 → $4,74. Причина — масштабирование СТО и Регулировки, а не общий рост качества.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Развал теряет по бюджету (42,6% за 13–21), СТО и Регулировка — по рангу (39,2% и 32,7%). Это разные рычаги.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46888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65176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ГЛАВНЫЙ ВЫВОД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971800"/>
            <a:ext cx="4892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Развал: бюджет — главный рычаг. +20–30% бюджета может дать ~3 звонка/нед.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СТО: бюджет и ранг примерно равны за 13–21, но сейчас ранг 36,6% против бюджета 6,2%. Сначала LP/QS, потом бюджет.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Регулировка: бюджет 0, только ранг. Проточка: ранг, но мало объёма.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ЗВОНКИ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Звонки по дням: 19-е провал, 20–21-е восстановление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6352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280160"/>
            <a:ext cx="3429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13–16.10: 6–10 звонков/день по всем кампаниям.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19.10: 2 звонка — провал после паузы 17–18.10.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20–21.10: 6 и 8 звонков, но CPA выше: $5,38 и $4,27.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Проточка: после 14.10 — 0 звонков, 1–4 клика/день. Это не приговор, это мало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CPA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CPA по дням: цифры скачут из-за малых чисел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6352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23444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E6E73"/>
                </a:solidFill>
                <a:latin typeface="Arial"/>
              </a:rPr>
              <a:t>Точки есть только там, где были звонки.</a:t>
            </a:r>
          </a:p>
          <a:p>
            <a:pPr algn="l">
              <a:spcAft>
                <a:spcPts val="0"/>
              </a:spcAft>
            </a:pPr>
            <a:r>
              <a:rPr sz="819" b="0">
                <a:solidFill>
                  <a:srgbClr val="6E6E73"/>
                </a:solidFill>
                <a:latin typeface="Arial"/>
              </a:rPr>
              <a:t>0 — это «нет данных», а не бесплатно.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874519"/>
            <a:ext cx="34290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Развал: $1,61–$7,67; 19.10 — 0 звонков.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СТО: $2,32–$6,83; 20.10 — $4,33.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Регулировка: $1,12–$9,59; 21.10 — $3,33.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Один день ничего не решает: смотреть 3–7-дневное среднее.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БЮДЖЕТ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Потеря по бюджету: где деньги реально режут охват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6352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280160"/>
            <a:ext cx="3429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Развал: 35–65% почти каждый день, пик 16.10 — 64,7%. Это главный ограничитель.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СТО: 63,5% 13.10 → 0% 15–20.10 → 10,9% 21.10. Бюджет перестал быть главным.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Регулировка: 0–28%, с 20.10 — 0%. Бюджет не режет.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Проточка: 0% почти всегда. Бюджет не режет.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32120"/>
            <a:ext cx="7635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E6E73"/>
                </a:solidFill>
                <a:latin typeface="Arial"/>
              </a:rPr>
              <a:t>Потеря по бюджету = доля показов, которые не получили из-за дневного лимита.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РАНГ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Потеря по рангу: не хватает ставки/качества, а не денег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6352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280160"/>
            <a:ext cx="3429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Ранг — это Ad Rank: ставка × Quality Score + активы. Это не «рейтинг» и не бюджет.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СТО: 27–55%, пик 15.10 — 54,7%. Конкуренты tonymotors и nv-service обходят по ставке/качеству.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Регулировка: 0–44%, 15.10 — 44,4%. Тоже ранг, не бюджет.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Проточка: 0–42%, растёт к 21.10. Развал: 0–21%, но в основном бюджет.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32120"/>
            <a:ext cx="7635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E6E73"/>
                </a:solidFill>
                <a:latin typeface="Arial"/>
              </a:rPr>
              <a:t>Потеря по рангу = доля показов, которые не получили, потому что Ad Rank ниже конкурентов.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АУКЦИОН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Доля показов, топ страницы и абсолютный топ — по дням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188720"/>
          <a:ext cx="37947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06240" y="1188720"/>
          <a:ext cx="379476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001000" y="1188720"/>
          <a:ext cx="3794760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983480"/>
            <a:ext cx="111556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Выкуп (доля показов) — сколько аукционов вы выиграли. Топ страницы — показ в верхнем блоке. Абсолютный топ — самая первая позиция.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Абсолютный топ вам не нужен: цель — топ страницы 70–80%, а не первая строка. Сейчас топ страницы 38–61%, абсолютный топ 11–27%.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>
                <a:solidFill>
                  <a:srgbClr val="6E6E73"/>
                </a:solidFill>
                <a:latin typeface="Arial"/>
              </a:rPr>
              <a:t>Процент выигрышей (outranking share) API по дням не отдаёт; он есть в UI за период — см. слайд «Аукцион»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ТАБЛИЦЫ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Развал и СТО-По маркам: все дни, все цифры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РАЗВАЛ-СХОЖДЕНИЕ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44752"/>
          <a:ext cx="9098280" cy="216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777240"/>
                <a:gridCol w="960120"/>
                <a:gridCol w="822960"/>
                <a:gridCol w="868680"/>
                <a:gridCol w="731520"/>
                <a:gridCol w="822960"/>
                <a:gridCol w="822960"/>
                <a:gridCol w="777240"/>
                <a:gridCol w="777240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Abs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$7.67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$7.67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$4.93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$5.87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$1.96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$6.43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$1.61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$6.66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$6.47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$6.47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$3.74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$3.94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$3.94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$12.23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$4.08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40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СТО - ПО МАРКАМ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096512"/>
          <a:ext cx="9098280" cy="1769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777240"/>
                <a:gridCol w="960120"/>
                <a:gridCol w="822960"/>
                <a:gridCol w="868680"/>
                <a:gridCol w="731520"/>
                <a:gridCol w="822960"/>
                <a:gridCol w="822960"/>
                <a:gridCol w="777240"/>
                <a:gridCol w="777240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Abs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$6.83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$6.83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$5.30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$2.65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$3.33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$6.98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$2.33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$6.97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$2.32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$4.97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$2.48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$17.32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$4.33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$13.44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$4.48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29800" y="1234440"/>
            <a:ext cx="1920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18–19.10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данных нет: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кампании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не работали.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22.10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без расхода.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Звонки —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клики по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номеру.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ТАБЛИЦЫ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Регулировка и Проточка: все дни, все цифры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РЕГУЛИРОВКА ФАР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44752"/>
          <a:ext cx="9098280" cy="216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777240"/>
                <a:gridCol w="960120"/>
                <a:gridCol w="822960"/>
                <a:gridCol w="868680"/>
                <a:gridCol w="731520"/>
                <a:gridCol w="822960"/>
                <a:gridCol w="822960"/>
                <a:gridCol w="777240"/>
                <a:gridCol w="777240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Abs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$8.82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$1.80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$7.77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$1.94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$7.71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$3.85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$4.48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$1.12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$9.16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$4.60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$12.10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$9.59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$9.59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$6.65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$3.33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40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ПРОТОЧКА ТОРМОЗНЫХ ДИСКОВ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096512"/>
          <a:ext cx="9098280" cy="216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777240"/>
                <a:gridCol w="960120"/>
                <a:gridCol w="822960"/>
                <a:gridCol w="868680"/>
                <a:gridCol w="731520"/>
                <a:gridCol w="822960"/>
                <a:gridCol w="822960"/>
                <a:gridCol w="777240"/>
                <a:gridCol w="777240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Abs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$4.98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$2.49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$0.43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$5.91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$5.91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$3.53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$3.53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$2.77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$2.80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$2.16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$0.46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$1.40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$1.83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29800" y="1234440"/>
            <a:ext cx="1920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Регулировка: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15 звонков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за 13–21.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Проточка: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1 звонок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за 13–21,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0 после 13.10.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Это малая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выборка.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ПРИРОСТ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Сколько может дать бюджет, а сколько — ранг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97840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68680"/>
                <a:gridCol w="1051560"/>
                <a:gridCol w="1691640"/>
                <a:gridCol w="1097280"/>
                <a:gridCol w="1143000"/>
                <a:gridCol w="1143000"/>
                <a:gridCol w="11430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Рычаг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Сейчас/день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Сценарий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+клики/день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+звонки/день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+звонки/нед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+расход/день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Развал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1,71 звонка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lostB 42,6% → 30%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+4,9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+0,42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+3,0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+$1,60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Развал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1,71 звонка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lostB 42,6% → 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+16,5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+1,43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+10,0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+$5,41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2,71 звонка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lostB 14,4% → 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+9,6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+0,84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+5,9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+$2,73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2,71 звонка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lostR 39,2% → 25%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+9,5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+0,83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+5,8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+$2,70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2,14 звонка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lostR 32,7% → 20%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+4,3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+0,45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+3,2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+$1,74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0,14 звонка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lostR 32,7% → 25%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+0,02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+0,1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70" b="0">
                          <a:solidFill>
                            <a:srgbClr val="17181A"/>
                          </a:solidFill>
                          <a:latin typeface="Arial"/>
                        </a:rPr>
                        <a:t>+$0,25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60520"/>
            <a:ext cx="11155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Развал: бюджет — реальный рычаг. +3 звонка/нед при снижении lostB до 30%; +10/нед — только если снять лимит полностью (нереалистично).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СТО: за 13–21 бюджет и ранг дают примерно по +6 звонков/нед; но сейчас бюджет уже 6,2%, а ранг 36,6%. Сначала LP/QS, потом бюджет.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Регулировка: бюджет 0, только ранг: +2–3 звонка/нед. Проточка: ранг даёт +0,1/нед — сначала объём/ключи.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Оценка при сохранении CTR, CR и CPC. Это не гарантия, а порядок цифр.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РАНГ И 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Почему СТО и Регулировка теряют ранг и что чинить на 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4924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Ранг (Ad Rank) = ставка × Quality Score + активы. «Потеря по рангу» значит: вас обошли по ставке/качеству, а не по бюджету.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СТО: QS 6,42, но 77 ключей с LP ниже среднего; 19 брендовых объявлений ведут на главную. В главной есть только Volkswagen и BMW — нет Renault, Peugeot, Citroen. Человек ищет «СТО Renault», а попадает на общую страницу.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Конкуренты: tonymotors обходит в 84,3% пересечений, nv-service — в 45,9%. CPC $0,28 — ставка низкая для брендовых аукционов.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Регулировка: QS 5,38, 13 ключей с LP ниже; страница сильная (1000 слов, цены, отзывы, FAQ, 3 формы), но ad relevance/ставка слабее. Бюджет 0 — поднимать его бессмысленно.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54864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LP = landing page. Сервисные страницы DАСТО сильные: H1, цена, процесс, отзывы, FAQ, 3 формы, 19 изображений, ~1000 слов. Их не надо переделывать с нуля.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Главная: 1603 слова, 74 изображения, 4 формы — но бренды только VW/BMW. Для 19 брендовых запросов это нерелевантно.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Что сделать: страница «СТО по маркам» или брендовые блоки для топ-5 (Renault, Peugeot, Citroen, Opel, Ford): модели, услуги, цены, мастера, отзывы, фото. Одна страница — тест, не 19 сразу.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Для сервисных страниц: H1 с точной фразой, цена выше, schema FAQ, скорость мобильной, кнопка/форма в первом экране. Не абсолютный топ — цель топ страницы 70–80%.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АУКЦИОН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Аукцион за 30 дней: мы первые по доле, но не по абсолютному топу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68122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731520"/>
                <a:gridCol w="777240"/>
                <a:gridCol w="731520"/>
                <a:gridCol w="731520"/>
                <a:gridCol w="822960"/>
                <a:gridCol w="868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Пересеч.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Выигрыши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развал-схождение.бел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carlife.by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autoprofi.by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venimotors.by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vsesto.by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234440"/>
          <a:ext cx="3886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85800"/>
                <a:gridCol w="82296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СТО-По маркам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tonymotors.by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nv-service.by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vsesto.by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709160"/>
            <a:ext cx="11155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Мы берём 45,3% показов, но абсолютный топ — 29,0% против 40,3% у venimotors и 34,3% у autoprofi.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Конкуренты обходят нас в 52–68% пересечений. Это и есть «потеря по рангу»: мы на странице, но не выше них.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Абсолютный топ не цель: цель — топ страницы 70–80%. Рост — через QS/ставку на «развал» и «регулировку», не через бюджет.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17920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E6E73"/>
                </a:solidFill>
                <a:latin typeface="Arial"/>
              </a:rPr>
              <a:t>30 дней, UI. Дневных имён конкурентов API не отдаёт; дневные графики выше — наши IS/top/abs.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делать: сначала рычаг, потом деньги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РАЗВАЛ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БЮДЖЕТ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011680"/>
            <a:ext cx="2423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Поднять бюджет на 20–30%: lostB 42,6% → 30%.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Ожидание: +3 звонка/нед, +$1,6/день.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LP/QS — вторым шагом: QS 4,89, топ-ключ QS 3.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Цель: CPA &lt; $5,5, топ страницы 55–60%.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280160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СТО - ПО МАРКАМ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РАНГ + 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011680"/>
            <a:ext cx="2423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Страница/блоки под топ-5 марок: Renault, Peugeot, Citroen, Opel, Ford.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Поднять ставки на брендовые ключи; QS 6,42, 77 LP ниже.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Бюджет — после LP/QS: сейчас lostB 6,2%, lostR 36,6%.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Цель: топ страницы 60–70%, CPA &lt; $4,5.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280160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РЕГУЛИРОВКА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РАНГ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011680"/>
            <a:ext cx="2423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Бюджет не трогать: lostB 0%.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LP/объявления: QS 5,38, 13 LP ниже.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Ставка/QS: lostR 32,7% → 20%.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Цель: +2–3 звонка/нед, CPA &lt; $4,5.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280160"/>
            <a:ext cx="26974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ПРОТОЧКА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ОБЪЁМ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011680"/>
            <a:ext cx="2423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Бюджет не трогать: lostB 0%.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Расширить ключи/объявления: 7 кликов за неделю — мало.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Ставка/IS: lostR 32,7% → 25%.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09">
                <a:solidFill>
                  <a:srgbClr val="D0130D"/>
                </a:solidFill>
                <a:latin typeface="Arial"/>
              </a:rPr>
              <a:t>●  </a:t>
            </a:r>
            <a:r>
              <a:rPr sz="810">
                <a:solidFill>
                  <a:srgbClr val="17181A"/>
                </a:solidFill>
                <a:latin typeface="Arial"/>
              </a:rPr>
              <a:t>Цель: 15–20 кликов/нед, CPA &lt; $6.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Абсолютный топ не цель. Цель — топ страницы 70–80% и CPA по звонку, а не по клику.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учтено и какие 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8–21 октября; 17–18 кампании не работали, 22 октября без расхода.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4 активные кампании: Развал, СТО-По маркам, Регулировка, Проточка.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Звонки = «Исходящий клик» (клик по номеру). 13–21: 47; 30 дней: 58.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CPA = расход / звонки; в дни без звонков CPA нет.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Качество — по ключам с данными; у части ключей QS нет.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440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Дневные IS/top/abs — API. Имена конкурентов и «процент выигрышей» — UI за 30 дней.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Прирост — оценка при сохранении CTR/CR/CPC; не гарантия.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LP-аудит: 4 страницы, H1/H2, объём, формы, бренды. Сервисные страницы сильные, главная — нет.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19 объявлений на главную — только СТО-По маркам; 31 — все, включая паузу.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В аккаунте ничего не менял.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0130D"/>
                </a:solidFill>
                <a:latin typeface="Arial"/>
              </a:rPr>
              <a:t>Дальше: выбрать один рычаг на кампанию и не менять всё одновременно.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