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13–19 окт</c:v>
                </c:pt>
              </c:strCache>
            </c:strRef>
          </c:tx>
          <c:spPr>
            <a:solidFill>
              <a:srgbClr val="B9B9B6"/>
            </a:solidFill>
          </c:spPr>
          <c:cat>
            <c:strRef>
              <c:f>Sheet1!$A$2:$A$5</c:f>
              <c:strCache>
                <c:ptCount val="4"/>
                <c:pt idx="0">
                  <c:v>Развал</c:v>
                </c:pt>
                <c:pt idx="1">
                  <c:v>Проточка</c:v>
                </c:pt>
                <c:pt idx="2">
                  <c:v>Регулировка</c:v>
                </c:pt>
                <c:pt idx="3">
                  <c:v>СТО-По маркам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3.65</c:v>
                </c:pt>
                <c:pt idx="1">
                  <c:v>11.72</c:v>
                </c:pt>
                <c:pt idx="2">
                  <c:v>3.44</c:v>
                </c:pt>
                <c:pt idx="3">
                  <c:v>2.57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20–21 окт</c:v>
                </c:pt>
              </c:strCache>
            </c:strRef>
          </c:tx>
          <c:spPr>
            <a:solidFill>
              <a:srgbClr val="D0130D"/>
            </a:solidFill>
          </c:spPr>
          <c:cat>
            <c:strRef>
              <c:f>Sheet1!$A$2:$A$5</c:f>
              <c:strCache>
                <c:ptCount val="4"/>
                <c:pt idx="0">
                  <c:v>Развал</c:v>
                </c:pt>
                <c:pt idx="1">
                  <c:v>Проточка</c:v>
                </c:pt>
                <c:pt idx="2">
                  <c:v>Регулировка</c:v>
                </c:pt>
                <c:pt idx="3">
                  <c:v>СТО-По маркам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4.04</c:v>
                </c:pt>
                <c:pt idx="2">
                  <c:v>5.41</c:v>
                </c:pt>
                <c:pt idx="3">
                  <c:v>4.39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sz="70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Получено</c:v>
                </c:pt>
              </c:strCache>
            </c:strRef>
          </c:tx>
          <c:spPr>
            <a:solidFill>
              <a:srgbClr val="2B2B2E"/>
            </a:solidFill>
          </c:spPr>
          <c:cat>
            <c:strRef>
              <c:f>Sheet1!$A$2:$A$5</c:f>
              <c:strCache>
                <c:ptCount val="4"/>
                <c:pt idx="0">
                  <c:v>Развал</c:v>
                </c:pt>
                <c:pt idx="1">
                  <c:v>Проточка</c:v>
                </c:pt>
                <c:pt idx="2">
                  <c:v>Регулировка</c:v>
                </c:pt>
                <c:pt idx="3">
                  <c:v>СТО-По маркам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46.2</c:v>
                </c:pt>
                <c:pt idx="1">
                  <c:v>69.7</c:v>
                </c:pt>
                <c:pt idx="2">
                  <c:v>56.5</c:v>
                </c:pt>
                <c:pt idx="3">
                  <c:v>35.6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Потеряно по бюджету</c:v>
                </c:pt>
              </c:strCache>
            </c:strRef>
          </c:tx>
          <c:spPr>
            <a:solidFill>
              <a:srgbClr val="D0130D"/>
            </a:solidFill>
          </c:spPr>
          <c:cat>
            <c:strRef>
              <c:f>Sheet1!$A$2:$A$5</c:f>
              <c:strCache>
                <c:ptCount val="4"/>
                <c:pt idx="0">
                  <c:v>Развал</c:v>
                </c:pt>
                <c:pt idx="1">
                  <c:v>Проточка</c:v>
                </c:pt>
                <c:pt idx="2">
                  <c:v>Регулировка</c:v>
                </c:pt>
                <c:pt idx="3">
                  <c:v>СТО-По маркам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52.3</c:v>
                </c:pt>
                <c:pt idx="1">
                  <c:v>0.0</c:v>
                </c:pt>
                <c:pt idx="2">
                  <c:v>10.7</c:v>
                </c:pt>
                <c:pt idx="3">
                  <c:v>25.8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Потеряно по рангу</c:v>
                </c:pt>
              </c:strCache>
            </c:strRef>
          </c:tx>
          <c:spPr>
            <a:solidFill>
              <a:srgbClr val="B9B9B6"/>
            </a:solidFill>
          </c:spPr>
          <c:cat>
            <c:strRef>
              <c:f>Sheet1!$A$2:$A$5</c:f>
              <c:strCache>
                <c:ptCount val="4"/>
                <c:pt idx="0">
                  <c:v>Развал</c:v>
                </c:pt>
                <c:pt idx="1">
                  <c:v>Проточка</c:v>
                </c:pt>
                <c:pt idx="2">
                  <c:v>Регулировка</c:v>
                </c:pt>
                <c:pt idx="3">
                  <c:v>СТО-По маркам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1.5</c:v>
                </c:pt>
                <c:pt idx="1">
                  <c:v>30.3</c:v>
                </c:pt>
                <c:pt idx="2">
                  <c:v>32.8</c:v>
                </c:pt>
                <c:pt idx="3">
                  <c:v>38.6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" cy="347472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43000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GOOGLE ADS  /  АВТОСЕРВИС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ДАСТО — СТО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97480"/>
            <a:ext cx="9875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E8E8E8"/>
                </a:solidFill>
                <a:latin typeface="Arial"/>
              </a:rPr>
              <a:t>4 активные кампании: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E8E8E8"/>
                </a:solidFill>
                <a:latin typeface="Arial"/>
              </a:rPr>
              <a:t>где теряем трафик и что даёт рост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B9B9B9"/>
                </a:solidFill>
                <a:latin typeface="Arial"/>
              </a:rPr>
              <a:t>13–21 октября 2026  ·  Google Ads API + статистика аукционов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B9B9B9"/>
                </a:solidFill>
                <a:latin typeface="Arial"/>
              </a:rPr>
              <a:t>Подготовлено 22.10.2026  ·  в аккаунте ничего не менял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Коротко: аккаунт работает, но рост упирается в качество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35607"/>
            <a:ext cx="22768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0130D"/>
                </a:solidFill>
                <a:latin typeface="Arial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29384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звонков за 13–21.10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2588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435607"/>
            <a:ext cx="22768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0130D"/>
                </a:solidFill>
                <a:latin typeface="Arial"/>
              </a:rPr>
              <a:t>$3,82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929384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CPA за звонок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435607"/>
            <a:ext cx="22768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0130D"/>
                </a:solidFill>
                <a:latin typeface="Arial"/>
              </a:rPr>
              <a:t>$179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929384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расход за 13–21.10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32588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7112" y="1435607"/>
            <a:ext cx="22768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530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1929384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кликов за 13–21.10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55321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60">
                <a:solidFill>
                  <a:srgbClr val="D0130D"/>
                </a:solidFill>
                <a:latin typeface="Arial"/>
              </a:rPr>
              <a:t>●  </a:t>
            </a:r>
            <a:r>
              <a:rPr sz="1160">
                <a:solidFill>
                  <a:srgbClr val="17181A"/>
                </a:solidFill>
                <a:latin typeface="Arial"/>
              </a:rPr>
              <a:t>13–21 октября: 47 кликов по номеру, CPA $3,82. Аккаунт приносит звонки.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60">
                <a:solidFill>
                  <a:srgbClr val="D0130D"/>
                </a:solidFill>
                <a:latin typeface="Arial"/>
              </a:rPr>
              <a:t>●  </a:t>
            </a:r>
            <a:r>
              <a:rPr sz="1160">
                <a:solidFill>
                  <a:srgbClr val="17181A"/>
                </a:solidFill>
                <a:latin typeface="Arial"/>
              </a:rPr>
              <a:t>Неделя к неделе: расход в день +47%, CPA $3,42 → $4,74. Рост дал объём, но не эффективность.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60">
                <a:solidFill>
                  <a:srgbClr val="D0130D"/>
                </a:solidFill>
                <a:latin typeface="Arial"/>
              </a:rPr>
              <a:t>●  </a:t>
            </a:r>
            <a:r>
              <a:rPr sz="1160">
                <a:solidFill>
                  <a:srgbClr val="17181A"/>
                </a:solidFill>
                <a:latin typeface="Arial"/>
              </a:rPr>
              <a:t>Главный резерв — не бюджет, а качество: «развал схождение» QS 3, «регулировка фар» QS 5, 19 брендовых объявлений ведут на главную.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60">
                <a:solidFill>
                  <a:srgbClr val="D0130D"/>
                </a:solidFill>
                <a:latin typeface="Arial"/>
              </a:rPr>
              <a:t>●  </a:t>
            </a:r>
            <a:r>
              <a:rPr sz="1160">
                <a:solidFill>
                  <a:srgbClr val="17181A"/>
                </a:solidFill>
                <a:latin typeface="Arial"/>
              </a:rPr>
              <a:t>Первый приоритет — посадочные под топ-ключи и QS. tCPA — только после 30+ звонков на кампанию.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606040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7889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0130D"/>
                </a:solidFill>
                <a:latin typeface="Arial"/>
              </a:rPr>
              <a:t>ЧТО ЭТО ЗНАЧИТ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27248"/>
            <a:ext cx="48920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1080">
                <a:solidFill>
                  <a:srgbClr val="17181A"/>
                </a:solidFill>
                <a:latin typeface="Arial"/>
              </a:rPr>
              <a:t>Развал и СТО-По маркам — драйверы звонков: 31 из 47 за 13–21.10.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1080">
                <a:solidFill>
                  <a:srgbClr val="17181A"/>
                </a:solidFill>
                <a:latin typeface="Arial"/>
              </a:rPr>
              <a:t>Развал упирается в бюджет (lostB 30–52%), СТО и Регулировка — в ранг (lostR 31–40%).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1080">
                <a:solidFill>
                  <a:srgbClr val="17181A"/>
                </a:solidFill>
                <a:latin typeface="Arial"/>
              </a:rPr>
              <a:t>Проточка просела по объёму: 7 кликов за эту неделю, 0 звонков. Малая выборка, не паниковать.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ДИНАМИКА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Неделя к неделе: больше денег — дороже звонок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66294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005840"/>
                <a:gridCol w="685800"/>
                <a:gridCol w="731520"/>
                <a:gridCol w="1005840"/>
                <a:gridCol w="685800"/>
                <a:gridCol w="7315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13–19: расход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20–21: расход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$29,17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$3,65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$16,17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$4,04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Проточка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$11,72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$11,72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$3,23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$41,22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$3,44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$16,24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$5,41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$30,87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$2,57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$30,76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$4,39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$112,98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$3,42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$66,40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$4,74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22191"/>
            <a:ext cx="6812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E6E73"/>
                </a:solidFill>
                <a:latin typeface="Arial"/>
              </a:rPr>
              <a:t>Расход в день: $22,6 → $33,2 (+47%). CPA: $3,42 → $4,74 (+39%).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E6E73"/>
                </a:solidFill>
                <a:latin typeface="Arial"/>
              </a:rPr>
              <a:t>Эта неделя — 2 дня данных (20–21.10), 22-е ещё без расхода.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635240" y="1325880"/>
          <a:ext cx="41605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35240" y="4828032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CPA по звонкам. У Проточки на этой неделе 0 звонков —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бар отсутствует, это «нет данных», а не «бесплатно».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30 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Кто сколько приносит: 58 звонков, CPA $4,62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96469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777240"/>
                <a:gridCol w="960120"/>
                <a:gridCol w="777240"/>
                <a:gridCol w="777240"/>
                <a:gridCol w="777240"/>
                <a:gridCol w="1143000"/>
                <a:gridCol w="1234440"/>
                <a:gridCol w="11430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Доля показов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Потеряно
по бюджету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Потеряно
по рангу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$10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$76,75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$5,12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50,1%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Проточка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$36,85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$5,26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$10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$85,95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$5,37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62,3%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$10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$68,46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$3,42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$268,01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737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$4,62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60520"/>
            <a:ext cx="5486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63% звонков дают СТО-По маркам и Регулировка (36 из 58).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Самый дешёвый звонок — СТО-По маркам: $3,42.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Самый дорогой — Регулировка: $5,37, но и объём выше.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16052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Arial"/>
              </a:rPr>
              <a:t>30 дней — это контекст, а не текущий темп: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Arial"/>
              </a:rPr>
              <a:t>кампании стояли на паузе 17–18 октября, 22-е ещё без данных.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Arial"/>
              </a:rPr>
              <a:t>Для решений используем 13–21 октября.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ПОТЕРИ ТРАФИКА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Где теряем показы: бюджет vs ранг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325880"/>
          <a:ext cx="59893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532120"/>
            <a:ext cx="5989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E6E73"/>
                </a:solidFill>
                <a:latin typeface="Arial"/>
              </a:rPr>
              <a:t>Прошлая неделя, 13–19.10. Сумма трёх сегментов = 100%.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371600"/>
            <a:ext cx="48920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Развал: 52% потеряно по бюджету, 2% по рангу. Это единственная кампания, где деньги реально ограничивают охват.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СТО-По маркам: 39% по рангу + 26% по бюджету. После роста бюджета осталась потеря по рангу — качество/посадочная.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Регулировка: 33% по рангу. Бюджет не главное; нужен QS/посадочная.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Проточка: 30% по рангу, но мало объёма — 26 кликов за неделю.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На этой неделе потеря по бюджету у Развала 30%, у остальных 0–6%: фокус смещается в ранг/качество.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КАЧЕСТВО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Quality Score: CTR хороший, страдает посадочная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59893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60120"/>
                <a:gridCol w="1051560"/>
                <a:gridCol w="960120"/>
                <a:gridCol w="105156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Средний QS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LP ниже
среднего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Объявление
ниже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CTR выше
среднего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4,89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Проточка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6,43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5,38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6,42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32588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0130D"/>
                </a:solidFill>
                <a:latin typeface="Arial"/>
              </a:rPr>
              <a:t>ТОП-КЛЮЧИ, ГДЕ БОЛЬНО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64208"/>
            <a:ext cx="48920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«развал схождение» — QS 3, 110 кликов, $36,25, 6 звонков, LP ниже среднего.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«регулировка фар» — QS 5, 46 кликов, $19,34, 2,5 звонка, LP ниже.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«настройка фар» — QS 5, 26 кликов, $11,77, 1,5 звонка, LP ниже.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«проточка тормозных дисков минск» — QS 8, 24 клика, $10,77, 0 звонков (малая выборка).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111556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Реклама кликабельна: CTR выше среднего почти по всем кампаниям. Проблема не в том, что люди не кликают.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Проблема в связке «ключ → посадочная»: у 15 ключей Развала и 13 ключей Регулировки LP ниже среднего.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СТО-По маркам: 77 ключей с LP ниже среднего — это цена 19 брендовых объявлений на главную.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ОБЪЯВЛЕНИЯ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19 из 31 объявления ведут на главную — и все они в СТО-По маркам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57607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100584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Финальный URL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Объявлений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/razval-shozhdenie/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Проточка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/protochka-diskov/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/regulirovka-far/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/  (главная)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0" b="0">
                          <a:solidFill>
                            <a:srgbClr val="1718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1417320"/>
            <a:ext cx="5166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30">
                <a:solidFill>
                  <a:srgbClr val="D0130D"/>
                </a:solidFill>
                <a:latin typeface="Arial"/>
              </a:rPr>
              <a:t>●  </a:t>
            </a:r>
            <a:r>
              <a:rPr sz="1030">
                <a:solidFill>
                  <a:srgbClr val="17181A"/>
                </a:solidFill>
                <a:latin typeface="Arial"/>
              </a:rPr>
              <a:t>19 объявлений на главную — это СТО-По маркам, по одному на каждую марку: Renault, Peugeot, Citroen, Opel, Ford, VW, Skoda, BMW, Mercedes, Audi, Hyundai, Kia, Nissan, Toyota, Mazda, Honda, Volvo, Chevrolet и группа марок.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30">
                <a:solidFill>
                  <a:srgbClr val="D0130D"/>
                </a:solidFill>
                <a:latin typeface="Arial"/>
              </a:rPr>
              <a:t>●  </a:t>
            </a:r>
            <a:r>
              <a:rPr sz="1030">
                <a:solidFill>
                  <a:srgbClr val="17181A"/>
                </a:solidFill>
                <a:latin typeface="Arial"/>
              </a:rPr>
              <a:t>31 объявление на главную — это все объявления аккаунта, включая паузу и удалённые. По работающим — 19. Я сказал 31 — это была ошибка формулировки, не данных.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30">
                <a:solidFill>
                  <a:srgbClr val="D0130D"/>
                </a:solidFill>
                <a:latin typeface="Arial"/>
              </a:rPr>
              <a:t>●  </a:t>
            </a:r>
            <a:r>
              <a:rPr sz="1030">
                <a:solidFill>
                  <a:srgbClr val="17181A"/>
                </a:solidFill>
                <a:latin typeface="Arial"/>
              </a:rPr>
              <a:t>Для брендовых запросов главная — слабая посадочная: 77 ключей с LP ниже среднего. Тест: отдельная страница «СТО по маркам» или брендовые блоки на главной.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5760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Arial"/>
              </a:rPr>
              <a:t>Что это значит: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Arial"/>
              </a:rPr>
              <a:t>• Развал, Проточка, Регулировка ведут на свои страницы — это правильно.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Arial"/>
              </a:rPr>
              <a:t>• СТО-По маркам — единственная кампания, где весь трафик идёт на главную.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Arial"/>
              </a:rPr>
              <a:t>• Это не обязательно ошибка: CPA $3,42. Но QS/LP можно улучшить отдельной страницей.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ЗАПРОСЫ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Мусора мало, минусовка сильная — не главный рычаг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514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35607"/>
            <a:ext cx="21854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0130D"/>
                </a:solidFill>
                <a:latin typeface="Arial"/>
              </a:rPr>
              <a:t>508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29384"/>
            <a:ext cx="2185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уникальных запросов 13–21.10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514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435607"/>
            <a:ext cx="21854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0130D"/>
                </a:solidFill>
                <a:latin typeface="Arial"/>
              </a:rPr>
              <a:t>4 079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929384"/>
            <a:ext cx="2185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минус-слов на кампаниях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325880"/>
            <a:ext cx="2514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2472" y="1435607"/>
            <a:ext cx="218541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0130D"/>
                </a:solidFill>
                <a:latin typeface="Arial"/>
              </a:rPr>
              <a:t>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1929384"/>
            <a:ext cx="2185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в общем списке минусов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325880"/>
            <a:ext cx="3017520" cy="96012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435607"/>
            <a:ext cx="268833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1929384"/>
            <a:ext cx="2688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крупных мусорных кластеров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370332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868680"/>
                <a:gridCol w="100584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Запрос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 минск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$10,56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развал схождение минск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$7,19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проточка тормозных дисков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$3,11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ремонт французских авто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$1,14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хонда сервис минск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$0,93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720840" y="3703320"/>
            <a:ext cx="4983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4 079 минусов на кампаниях и 69 в общем списке — аккаунт уже хорошо зачищен.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Крупного мусора нет. Точечно проверить: «ремонт французских авто» и «хонда сервис» — есть ли услуга и посадочная.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«проточка» — 0 звонков, но всего 7 кликов: это выборка, а не приговор. Не минусовать.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АУКЦИОН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Мы берём 45% показов, но проигрываем абсолютный топ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6675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868680"/>
                <a:gridCol w="868680"/>
                <a:gridCol w="868680"/>
                <a:gridCol w="91440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Конкурент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Доля
показов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Пересе-
чение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Позиция
выше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Топ
страницы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Абс.
топ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7181A"/>
                          </a:solidFill>
                          <a:latin typeface="Arial"/>
                        </a:rPr>
                        <a:t>Вы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7181A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7181A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7181A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развал-схождение.бел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carlife.by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autoprofi.by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venimotors.by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90,1%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vsesto.by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7181A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1325880"/>
          <a:ext cx="40690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731520"/>
                <a:gridCol w="868680"/>
                <a:gridCol w="8686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СТО-По маркам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Выше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Абс. топ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Вы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1">
                          <a:solidFill>
                            <a:srgbClr val="17181A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54864" marR="45720" marT="18288" marB="18288" anchor="ctr">
                    <a:solidFill>
                      <a:srgbClr val="FBE9E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tonymotors.by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nv-service.by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vsesto.by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709160"/>
            <a:ext cx="11155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У нас самая высокая доля показов (45,3%), но абсолютный топ — 29,0% против 40,3% у venimotors и 34,3% у autoprofi.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Конкуренты обходят нас в 52–68% пересечений: мы часто на странице, но не на самой верхней позиции.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1019">
                <a:solidFill>
                  <a:srgbClr val="17181A"/>
                </a:solidFill>
                <a:latin typeface="Arial"/>
              </a:rPr>
              <a:t>Рост — не через бюджет, а через QS/ставку на топ-ключах: «развал схождение» (QS 3) и «регулировка фар» (QS 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2648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6E6E73"/>
                </a:solidFill>
                <a:latin typeface="Arial"/>
              </a:rPr>
              <a:t>Статистика аукционов: 30 дней, интерфейс Google Ads. Слева — все кампании, справа — фильтр «СТО - По маркам».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Что делать по каждой кампании — по шагам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761488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761488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17181A"/>
                </a:solidFill>
                <a:latin typeface="Arial"/>
              </a:rPr>
              <a:t>РАЗВАЛ-СХОЖДЕНИЕ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6E6E73"/>
                </a:solidFill>
                <a:latin typeface="Arial"/>
              </a:rPr>
              <a:t>$5,12 CPA · IS 50% · lostB 47%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2487168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Починить LP под «развал схождение» (QS 3): контент, скорость, форма/CTA.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Добавить 5–8 заголовков с ценой/3D-стендом/гарантией.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Поднять бюджет на 20–30% — это единственная кампания с большой потерей по бюджету.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Цель: CPA &lt; $5,5, IS 65%, lostB &lt; 35%.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25880"/>
            <a:ext cx="2761488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25880"/>
            <a:ext cx="2761488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490472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17181A"/>
                </a:solidFill>
                <a:latin typeface="Arial"/>
              </a:rPr>
              <a:t>СТО - ПО МАРКАМ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764792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6E6E73"/>
                </a:solidFill>
                <a:latin typeface="Arial"/>
              </a:rPr>
              <a:t>$3,42 CPA · IS 40% · lostR 37%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30552"/>
            <a:ext cx="2487168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Отдельная страница «СТО по маркам» или брендовые блоки: 77 ключей с LP ниже среднего.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19 объявлений на главную — тест одной брендовой страницы.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Масштабировать бюджет только если CPA &lt; $4,5.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Цель: lostR &lt; 25%, CPA &lt; $4,5.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325880"/>
            <a:ext cx="2761488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325880"/>
            <a:ext cx="2761488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90472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17181A"/>
                </a:solidFill>
                <a:latin typeface="Arial"/>
              </a:rPr>
              <a:t>РЕГУЛИРОВКА ФАР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64792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6E6E73"/>
                </a:solidFill>
                <a:latin typeface="Arial"/>
              </a:rPr>
              <a:t>$5,37 CPA · IS 62% · lostR 27%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30552"/>
            <a:ext cx="2487168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LP под «регулировка фар»: QS 5, 13 ключей с LP ниже.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Добавить заголовки про техосмотр, ПТФ, линзы.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Бюджет не поднимать, пока CPA не вернётся к $4,5.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Цель: lostR &lt; 20%, CPA &lt; $4,5.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325880"/>
            <a:ext cx="2761488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325880"/>
            <a:ext cx="2761488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490472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17181A"/>
                </a:solidFill>
                <a:latin typeface="Arial"/>
              </a:rPr>
              <a:t>ПРОТОЧКА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64792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6E6E73"/>
                </a:solidFill>
                <a:latin typeface="Arial"/>
              </a:rPr>
              <a:t>$5,26 CPA · IS 72% · lostR 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130552"/>
            <a:ext cx="2487168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Расширить ключи: «проточка без снятия», «проточка дисков цена», «проточка минск».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Поднять ставку/IS с 60% до 75%.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Бюджет $5 — тест +$3–5/день.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60">
                <a:solidFill>
                  <a:srgbClr val="D0130D"/>
                </a:solidFill>
                <a:latin typeface="Arial"/>
              </a:rPr>
              <a:t>●  </a:t>
            </a:r>
            <a:r>
              <a:rPr sz="860">
                <a:solidFill>
                  <a:srgbClr val="17181A"/>
                </a:solidFill>
                <a:latin typeface="Arial"/>
              </a:rPr>
              <a:t>Цель: 15–20 кликов/нед, CPA &lt; $6.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064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rial"/>
              </a:rPr>
              <a:t>Не включать все 8 кампаний. Не менять ставки, бюджеты и посадочные одновременно.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СТАВКИ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tCPA: не сейчас, а после 30+ звонков на кампанию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6080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34440"/>
                <a:gridCol w="1097280"/>
                <a:gridCol w="16459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Звонки 30 дн.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 30 дн.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Готовность к tCPA</a:t>
                      </a:r>
                    </a:p>
                  </a:txBody>
                  <a:tcPr marL="54864" marR="45720" marT="18288" marB="18288" anchor="ctr">
                    <a:solidFill>
                      <a:srgbClr val="17181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$5,12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Средняя: 15 звонков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Проточка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$5,26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Низкая: мало данных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$5,37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Средняя: 16 звонков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$3,42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Лучшая: 20 звонков</a:t>
                      </a:r>
                    </a:p>
                  </a:txBody>
                  <a:tcPr marL="54864" marR="45720" marT="18288" marB="18288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1325880"/>
            <a:ext cx="4983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Max Conversions не включаем: при 15–20 звонках это риск роста CPC без данных.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tCPA — только A/B 50/50 на одной кампании: СТО-По маркам или Регулировка.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Ставить tCPA на уровне текущего CPA: $3,4–5,4, не ниже.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2–4 недели, сравнивать CPA, CR, долю показов и абсолютный топ. Не CPC.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0130D"/>
                </a:solidFill>
                <a:latin typeface="Arial"/>
              </a:rPr>
              <a:t>ТРИ РЕШЕНИЯ, КОТОРЫЕ НУЖНЫ ОТ ТЕБЯ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19">
                <a:solidFill>
                  <a:srgbClr val="D0130D"/>
                </a:solidFill>
                <a:latin typeface="Arial"/>
              </a:rPr>
              <a:t>●  </a:t>
            </a:r>
            <a:r>
              <a:rPr sz="1120">
                <a:solidFill>
                  <a:srgbClr val="17181A"/>
                </a:solidFill>
                <a:latin typeface="Arial"/>
              </a:rPr>
              <a:t>1. Развал: поднимаем бюджет на 20–30% сейчас или сначала чиним LP/QS?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19">
                <a:solidFill>
                  <a:srgbClr val="D0130D"/>
                </a:solidFill>
                <a:latin typeface="Arial"/>
              </a:rPr>
              <a:t>●  </a:t>
            </a:r>
            <a:r>
              <a:rPr sz="1120">
                <a:solidFill>
                  <a:srgbClr val="17181A"/>
                </a:solidFill>
                <a:latin typeface="Arial"/>
              </a:rPr>
              <a:t>2. СТО-По маркам: делаем отдельную страницу под марки или оставляем главную?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19">
                <a:solidFill>
                  <a:srgbClr val="D0130D"/>
                </a:solidFill>
                <a:latin typeface="Arial"/>
              </a:rPr>
              <a:t>●  </a:t>
            </a:r>
            <a:r>
              <a:rPr sz="1120">
                <a:solidFill>
                  <a:srgbClr val="17181A"/>
                </a:solidFill>
                <a:latin typeface="Arial"/>
              </a:rPr>
              <a:t>3. tCPA-тест: запускаем через 2 недели после LP или ждём 30+ звонков на кампанию?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7181A"/>
                </a:solidFill>
                <a:latin typeface="Arial"/>
              </a:rPr>
              <a:t>Что учтено и чего не хватает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без изменений в аккаунте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4 активные кампании: Развал, Проточка, Регулировка фар, СТО-По маркам.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Периоды: 13–19.10 (прошлая неделя) и 20–22.10 (эта, данные 20–21).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Звонки = «Исходящий клик» (клик по номеру). 30 дней: 58 звонков; 13–21: 47.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Quality Score — по ключам с данными; у части ключей QS нет.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Статистика аукционов — 30 дней, интерфейс Google Ads; API её не отдаёт.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325880"/>
            <a:ext cx="54406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Аукцион по всем кампаниям и отдельно по СТО-По маркам; по остальным трём — только IS/lost IS.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Эта неделя — 2 дня, 22 октября без расхода; выводы по CPA неделя к неделе — осторожные.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19 объявлений на главную — только СТО-По маркам. 31 — все объявления, включая паузу.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Не хватает: CRM/коллтрекинг по каждому звонку, стоимость заявки, причины отказов.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В аккаунте ничего не менял: только чтение и выгрузка.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D0130D"/>
                </a:solidFill>
                <a:latin typeface="Arial"/>
              </a:rPr>
              <a:t>Дальше: фиксируем решения по трём пунктам и делаем пилот на одной кампании, а не на всех сразу.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