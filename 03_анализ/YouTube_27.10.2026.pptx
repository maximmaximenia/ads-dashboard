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9728" cy="361188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097280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D0130D"/>
                </a:solidFill>
                <a:latin typeface="Arial"/>
              </a:rPr>
              <a:t>YOUTUBE / IN-FEED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508760"/>
            <a:ext cx="9875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Arial"/>
              </a:rPr>
              <a:t>YouTube: первая заявка</a:t>
            </a:r>
          </a:p>
          <a:p>
            <a:pPr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Arial"/>
              </a:rPr>
              <a:t>и что это значит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063240"/>
            <a:ext cx="98755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800" b="0">
                <a:solidFill>
                  <a:srgbClr val="E6E6E6"/>
                </a:solidFill>
                <a:latin typeface="Arial"/>
              </a:rPr>
              <a:t>21–27 октября 2026</a:t>
            </a:r>
          </a:p>
          <a:p>
            <a:pPr>
              <a:spcAft>
                <a:spcPts val="0"/>
              </a:spcAft>
            </a:pPr>
            <a:r>
              <a:rPr sz="1800" b="0">
                <a:solidFill>
                  <a:srgbClr val="E6E6E6"/>
                </a:solidFill>
                <a:latin typeface="Arial"/>
              </a:rPr>
              <a:t>12 880 показов · 42 клика · $21,53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4709160"/>
            <a:ext cx="4572000" cy="18288"/>
          </a:xfrm>
          <a:prstGeom prst="rect">
            <a:avLst/>
          </a:prstGeom>
          <a:solidFill>
            <a:srgbClr val="3A3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873752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B9B9B9"/>
                </a:solidFill>
                <a:latin typeface="Arial"/>
              </a:rPr>
              <a:t>Подготовлено 27.10.2026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ИТОГ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7181A"/>
                </a:solidFill>
                <a:latin typeface="Arial"/>
              </a:rPr>
              <a:t>Первая заявка есть, но в Google Ads её нет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Подготовлено 27.10.2026 · без изменений в аккаунте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325880"/>
            <a:ext cx="226771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D0130D"/>
                </a:solidFill>
                <a:latin typeface="Arial"/>
              </a:rPr>
              <a:t>12 880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801368"/>
            <a:ext cx="22677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6E73"/>
                </a:solidFill>
                <a:latin typeface="Arial"/>
              </a:rPr>
              <a:t>показов 21–27.10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23444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46704" y="1325880"/>
            <a:ext cx="226771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D0130D"/>
                </a:solidFill>
                <a:latin typeface="Arial"/>
              </a:rPr>
              <a:t>42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6704" y="1801368"/>
            <a:ext cx="22677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6E73"/>
                </a:solidFill>
                <a:latin typeface="Arial"/>
              </a:rPr>
              <a:t>клика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123444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17181A"/>
          </a:solidFill>
          <a:ln>
            <a:solidFill>
              <a:srgbClr val="171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44184" y="1325880"/>
            <a:ext cx="226771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rial"/>
              </a:rPr>
              <a:t>$21,53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44184" y="1801368"/>
            <a:ext cx="22677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D9D9D9"/>
                </a:solidFill>
                <a:latin typeface="Arial"/>
              </a:rPr>
              <a:t>расход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95360" y="123444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3E3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41664" y="1325880"/>
            <a:ext cx="245059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D0130D"/>
                </a:solidFill>
                <a:latin typeface="Arial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41664" y="1801368"/>
            <a:ext cx="245059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E6E73"/>
                </a:solidFill>
                <a:latin typeface="Arial"/>
              </a:rPr>
              <a:t>заявка (Метрика/CRM)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514600"/>
            <a:ext cx="54864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60">
                <a:solidFill>
                  <a:srgbClr val="D0130D"/>
                </a:solidFill>
                <a:latin typeface="Arial"/>
              </a:rPr>
              <a:t>●  </a:t>
            </a:r>
            <a:r>
              <a:rPr sz="960">
                <a:solidFill>
                  <a:srgbClr val="17181A"/>
                </a:solidFill>
                <a:latin typeface="Arial"/>
              </a:rPr>
              <a:t>Кампания разогналась: 22.10 — 208 показов, 26.10 — 5 789, 27.10 — 2 614.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60">
                <a:solidFill>
                  <a:srgbClr val="D0130D"/>
                </a:solidFill>
                <a:latin typeface="Arial"/>
              </a:rPr>
              <a:t>●  </a:t>
            </a:r>
            <a:r>
              <a:rPr sz="960">
                <a:solidFill>
                  <a:srgbClr val="17181A"/>
                </a:solidFill>
                <a:latin typeface="Arial"/>
              </a:rPr>
              <a:t>42 клика, CTR 0,33%, средняя цена клика $0,51.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60">
                <a:solidFill>
                  <a:srgbClr val="D0130D"/>
                </a:solidFill>
                <a:latin typeface="Arial"/>
              </a:rPr>
              <a:t>●  </a:t>
            </a:r>
            <a:r>
              <a:rPr sz="960">
                <a:solidFill>
                  <a:srgbClr val="17181A"/>
                </a:solidFill>
                <a:latin typeface="Arial"/>
              </a:rPr>
              <a:t>В Google Ads конверсий 0: заявка не привязана к кампании.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60">
                <a:solidFill>
                  <a:srgbClr val="D0130D"/>
                </a:solidFill>
                <a:latin typeface="Arial"/>
              </a:rPr>
              <a:t>●  </a:t>
            </a:r>
            <a:r>
              <a:rPr sz="960">
                <a:solidFill>
                  <a:srgbClr val="17181A"/>
                </a:solidFill>
                <a:latin typeface="Arial"/>
              </a:rPr>
              <a:t>Если заявка одна и расход $21,53 — CPL около $21,53, но это не подтверждённая атрибуция.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514600"/>
            <a:ext cx="53949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60">
                <a:solidFill>
                  <a:srgbClr val="D0130D"/>
                </a:solidFill>
                <a:latin typeface="Arial"/>
              </a:rPr>
              <a:t>●  </a:t>
            </a:r>
            <a:r>
              <a:rPr sz="960">
                <a:solidFill>
                  <a:srgbClr val="17181A"/>
                </a:solidFill>
                <a:latin typeface="Arial"/>
              </a:rPr>
              <a:t>Цель кампании — «Просмотры видео», а не заявки. Алгоритм не знает о лиде.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60">
                <a:solidFill>
                  <a:srgbClr val="D0130D"/>
                </a:solidFill>
                <a:latin typeface="Arial"/>
              </a:rPr>
              <a:t>●  </a:t>
            </a:r>
            <a:r>
              <a:rPr sz="960">
                <a:solidFill>
                  <a:srgbClr val="17181A"/>
                </a:solidFill>
                <a:latin typeface="Arial"/>
              </a:rPr>
              <a:t>UTM: utm_source=youtube, utm_medium=video, utm_campaign=infeed_test.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60">
                <a:solidFill>
                  <a:srgbClr val="D0130D"/>
                </a:solidFill>
                <a:latin typeface="Arial"/>
              </a:rPr>
              <a:t>●  </a:t>
            </a:r>
            <a:r>
              <a:rPr sz="960">
                <a:solidFill>
                  <a:srgbClr val="17181A"/>
                </a:solidFill>
                <a:latin typeface="Arial"/>
              </a:rPr>
              <a:t>В Метрике за 21–27: 236 визитов, 212 — переходы по рекламе.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60">
                <a:solidFill>
                  <a:srgbClr val="D0130D"/>
                </a:solidFill>
                <a:latin typeface="Arial"/>
              </a:rPr>
              <a:t>●  </a:t>
            </a:r>
            <a:r>
              <a:rPr sz="960">
                <a:solidFill>
                  <a:srgbClr val="17181A"/>
                </a:solidFill>
                <a:latin typeface="Arial"/>
              </a:rPr>
              <a:t>Чтобы найти заявку: смотреть цель «форма/звонок» и UTM в Метрике/CRM.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ДНИ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7181A"/>
                </a:solidFill>
                <a:latin typeface="Arial"/>
              </a:rPr>
              <a:t>YouTube: как разгонялась кампания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Подготовлено 27.10.2026 · без изменений в аккаунте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493776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097280"/>
                <a:gridCol w="822960"/>
                <a:gridCol w="100584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FFFFFF"/>
                          </a:solidFill>
                          <a:latin typeface="Arial"/>
                        </a:rPr>
                        <a:t>Дата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1">
                          <a:solidFill>
                            <a:srgbClr val="FFFFFF"/>
                          </a:solidFill>
                          <a:latin typeface="Arial"/>
                        </a:rPr>
                        <a:t>Показы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1">
                          <a:solidFill>
                            <a:srgbClr val="FFFFFF"/>
                          </a:solidFill>
                          <a:latin typeface="Arial"/>
                        </a:rPr>
                        <a:t>Клики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1">
                          <a:solidFill>
                            <a:srgbClr val="FFFFFF"/>
                          </a:solidFill>
                          <a:latin typeface="Arial"/>
                        </a:rPr>
                        <a:t>Расход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19" b="1">
                          <a:solidFill>
                            <a:srgbClr val="FFFFFF"/>
                          </a:solidFill>
                          <a:latin typeface="Arial"/>
                        </a:rPr>
                        <a:t>Заявки</a:t>
                      </a:r>
                    </a:p>
                  </a:txBody>
                  <a:tcPr marL="45720" marR="45720" marT="9144" marB="9144" anchor="ctr">
                    <a:solidFill>
                      <a:srgbClr val="17181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21.10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$0,00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22.10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208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$0,19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23.10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561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$0,35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24.10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901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$0,99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25.10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2 807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$4,16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26.10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5 789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$10,12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1?</a:t>
                      </a:r>
                    </a:p>
                  </a:txBody>
                  <a:tcPr marL="45720" marR="45720" marT="9144" marB="9144" anchor="ctr">
                    <a:solidFill>
                      <a:srgbClr val="EFEFE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27.10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2 614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$5,72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19" b="0">
                          <a:solidFill>
                            <a:srgbClr val="1718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629400" y="1234440"/>
            <a:ext cx="50292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40">
                <a:solidFill>
                  <a:srgbClr val="D0130D"/>
                </a:solidFill>
                <a:latin typeface="Arial"/>
              </a:rPr>
              <a:t>●  </a:t>
            </a:r>
            <a:r>
              <a:rPr sz="940">
                <a:solidFill>
                  <a:srgbClr val="17181A"/>
                </a:solidFill>
                <a:latin typeface="Arial"/>
              </a:rPr>
              <a:t>До 25.10 кампания почти не откручивалась: 2–900 показов.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40">
                <a:solidFill>
                  <a:srgbClr val="D0130D"/>
                </a:solidFill>
                <a:latin typeface="Arial"/>
              </a:rPr>
              <a:t>●  </a:t>
            </a:r>
            <a:r>
              <a:rPr sz="940">
                <a:solidFill>
                  <a:srgbClr val="17181A"/>
                </a:solidFill>
                <a:latin typeface="Arial"/>
              </a:rPr>
              <a:t>26.10 — скачок: 5 789 показов, 22 клика, $10,12.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40">
                <a:solidFill>
                  <a:srgbClr val="D0130D"/>
                </a:solidFill>
                <a:latin typeface="Arial"/>
              </a:rPr>
              <a:t>●  </a:t>
            </a:r>
            <a:r>
              <a:rPr sz="940">
                <a:solidFill>
                  <a:srgbClr val="17181A"/>
                </a:solidFill>
                <a:latin typeface="Arial"/>
              </a:rPr>
              <a:t>27.10 — ещё 2 614 показов, 11 кликов, $5,72.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40">
                <a:solidFill>
                  <a:srgbClr val="D0130D"/>
                </a:solidFill>
                <a:latin typeface="Arial"/>
              </a:rPr>
              <a:t>●  </a:t>
            </a:r>
            <a:r>
              <a:rPr sz="940">
                <a:solidFill>
                  <a:srgbClr val="17181A"/>
                </a:solidFill>
                <a:latin typeface="Arial"/>
              </a:rPr>
              <a:t>Заявка, вероятно, 26–27.10; в Ads она не отражена.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40">
                <a:solidFill>
                  <a:srgbClr val="D0130D"/>
                </a:solidFill>
                <a:latin typeface="Arial"/>
              </a:rPr>
              <a:t>●  </a:t>
            </a:r>
            <a:r>
              <a:rPr sz="940">
                <a:solidFill>
                  <a:srgbClr val="17181A"/>
                </a:solidFill>
                <a:latin typeface="Arial"/>
              </a:rPr>
              <a:t>Кампания остаётся на Target CPV $0,05; фактическая ставка $0,01.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МЕТРИКА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7181A"/>
                </a:solidFill>
                <a:latin typeface="Arial"/>
              </a:rPr>
              <a:t>Откуда заявка: что проверить в Метрике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Подготовлено 27.10.2026 · без изменений в аккаунте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548640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40">
                <a:solidFill>
                  <a:srgbClr val="D0130D"/>
                </a:solidFill>
                <a:latin typeface="Arial"/>
              </a:rPr>
              <a:t>●  </a:t>
            </a:r>
            <a:r>
              <a:rPr sz="940">
                <a:solidFill>
                  <a:srgbClr val="17181A"/>
                </a:solidFill>
                <a:latin typeface="Arial"/>
              </a:rPr>
              <a:t>Счётчик: 113657567 (coordinat.pro). За 21–27: 236 визитов, 212 — по рекламе, 19 — прямые, 5 — ссылки.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40">
                <a:solidFill>
                  <a:srgbClr val="D0130D"/>
                </a:solidFill>
                <a:latin typeface="Arial"/>
              </a:rPr>
              <a:t>●  </a:t>
            </a:r>
            <a:r>
              <a:rPr sz="940">
                <a:solidFill>
                  <a:srgbClr val="17181A"/>
                </a:solidFill>
                <a:latin typeface="Arial"/>
              </a:rPr>
              <a:t>В Google Ads по YouTube 0 конверсий — заявка не привязана. Это не значит, что её не было.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40">
                <a:solidFill>
                  <a:srgbClr val="D0130D"/>
                </a:solidFill>
                <a:latin typeface="Arial"/>
              </a:rPr>
              <a:t>●  </a:t>
            </a:r>
            <a:r>
              <a:rPr sz="940">
                <a:solidFill>
                  <a:srgbClr val="17181A"/>
                </a:solidFill>
                <a:latin typeface="Arial"/>
              </a:rPr>
              <a:t>UTM: youtube / video / infeed_test. В Метрике смотреть «Источники» → UTM Source / UTM Campaign.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40">
                <a:solidFill>
                  <a:srgbClr val="D0130D"/>
                </a:solidFill>
                <a:latin typeface="Arial"/>
              </a:rPr>
              <a:t>●  </a:t>
            </a:r>
            <a:r>
              <a:rPr sz="940">
                <a:solidFill>
                  <a:srgbClr val="17181A"/>
                </a:solidFill>
                <a:latin typeface="Arial"/>
              </a:rPr>
              <a:t>Цель: «Отправка формы» или «Клик по телефону». Если цели нет — заявку не увидим.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234440"/>
            <a:ext cx="53949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40">
                <a:solidFill>
                  <a:srgbClr val="D0130D"/>
                </a:solidFill>
                <a:latin typeface="Arial"/>
              </a:rPr>
              <a:t>●  </a:t>
            </a:r>
            <a:r>
              <a:rPr sz="940">
                <a:solidFill>
                  <a:srgbClr val="17181A"/>
                </a:solidFill>
                <a:latin typeface="Arial"/>
              </a:rPr>
              <a:t>Найди в Метрике визит с utm_source=youtube и целью «форма/звонок» — это и будет доказательство.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40">
                <a:solidFill>
                  <a:srgbClr val="D0130D"/>
                </a:solidFill>
                <a:latin typeface="Arial"/>
              </a:rPr>
              <a:t>●  </a:t>
            </a:r>
            <a:r>
              <a:rPr sz="940">
                <a:solidFill>
                  <a:srgbClr val="17181A"/>
                </a:solidFill>
                <a:latin typeface="Arial"/>
              </a:rPr>
              <a:t>Если заявка пришла с формы, проверь, передаёт ли форма UTM в CRM/Telegram.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40">
                <a:solidFill>
                  <a:srgbClr val="D0130D"/>
                </a:solidFill>
                <a:latin typeface="Arial"/>
              </a:rPr>
              <a:t>●  </a:t>
            </a:r>
            <a:r>
              <a:rPr sz="940">
                <a:solidFill>
                  <a:srgbClr val="17181A"/>
                </a:solidFill>
                <a:latin typeface="Arial"/>
              </a:rPr>
              <a:t>Без этого нельзя сказать, YouTube это или другой источник; в Ads атрибуции нет.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40">
                <a:solidFill>
                  <a:srgbClr val="D0130D"/>
                </a:solidFill>
                <a:latin typeface="Arial"/>
              </a:rPr>
              <a:t>●  </a:t>
            </a:r>
            <a:r>
              <a:rPr sz="940">
                <a:solidFill>
                  <a:srgbClr val="17181A"/>
                </a:solidFill>
                <a:latin typeface="Arial"/>
              </a:rPr>
              <a:t>Скинь текст заявки/скрин из Метрики — сверю источник и время.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623560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720" b="0">
                <a:solidFill>
                  <a:srgbClr val="6E6E73"/>
                </a:solidFill>
                <a:latin typeface="Arial"/>
              </a:rPr>
              <a:t>Метрика доступна, но API-токена нет — смотрел интерфейс. Точную заявку по UTM нужно открыть в отчёте.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01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D0130D"/>
                </a:solidFill>
                <a:latin typeface="Arial"/>
              </a:rPr>
              <a:t>ЧТО ДЕЛАТЬ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7181A"/>
                </a:solidFill>
                <a:latin typeface="Arial"/>
              </a:rPr>
              <a:t>YouTube: как превратить первую заявку в систему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73"/>
                </a:solidFill>
                <a:latin typeface="Arial"/>
              </a:rPr>
              <a:t>Подготовлено 27.10.2026 · без изменений в аккаунте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548640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50">
                <a:solidFill>
                  <a:srgbClr val="D0130D"/>
                </a:solidFill>
                <a:latin typeface="Arial"/>
              </a:rPr>
              <a:t>●  </a:t>
            </a:r>
            <a:r>
              <a:rPr sz="950">
                <a:solidFill>
                  <a:srgbClr val="17181A"/>
                </a:solidFill>
                <a:latin typeface="Arial"/>
              </a:rPr>
              <a:t>1. Добавить конверсию: отправка формы и клик по телефону на coordinat.pro. Без неё Max Conversions/оптимизация невозможны.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50">
                <a:solidFill>
                  <a:srgbClr val="D0130D"/>
                </a:solidFill>
                <a:latin typeface="Arial"/>
              </a:rPr>
              <a:t>●  </a:t>
            </a:r>
            <a:r>
              <a:rPr sz="950">
                <a:solidFill>
                  <a:srgbClr val="17181A"/>
                </a:solidFill>
                <a:latin typeface="Arial"/>
              </a:rPr>
              <a:t>2. Поставить цель «Заявка», а не «Просмотры видео»; иначе алгоритм покупает просмотры.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50">
                <a:solidFill>
                  <a:srgbClr val="D0130D"/>
                </a:solidFill>
                <a:latin typeface="Arial"/>
              </a:rPr>
              <a:t>●  </a:t>
            </a:r>
            <a:r>
              <a:rPr sz="950">
                <a:solidFill>
                  <a:srgbClr val="17181A"/>
                </a:solidFill>
                <a:latin typeface="Arial"/>
              </a:rPr>
              <a:t>3. Оставить Target CPV $0,05; при необходимости поднять до $0,07–0,10.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50">
                <a:solidFill>
                  <a:srgbClr val="D0130D"/>
                </a:solidFill>
                <a:latin typeface="Arial"/>
              </a:rPr>
              <a:t>●  </a:t>
            </a:r>
            <a:r>
              <a:rPr sz="950">
                <a:solidFill>
                  <a:srgbClr val="17181A"/>
                </a:solidFill>
                <a:latin typeface="Arial"/>
              </a:rPr>
              <a:t>4. Расширить 20 каналов/10 ключей, если после 10 000 показов мало кликов.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234440"/>
            <a:ext cx="53949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50">
                <a:solidFill>
                  <a:srgbClr val="D0130D"/>
                </a:solidFill>
                <a:latin typeface="Arial"/>
              </a:rPr>
              <a:t>●  </a:t>
            </a:r>
            <a:r>
              <a:rPr sz="950">
                <a:solidFill>
                  <a:srgbClr val="17181A"/>
                </a:solidFill>
                <a:latin typeface="Arial"/>
              </a:rPr>
              <a:t>5. Не масштабировать бюджет, пока нет 3–5 заявок и понятной CPL.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50">
                <a:solidFill>
                  <a:srgbClr val="D0130D"/>
                </a:solidFill>
                <a:latin typeface="Arial"/>
              </a:rPr>
              <a:t>●  </a:t>
            </a:r>
            <a:r>
              <a:rPr sz="950">
                <a:solidFill>
                  <a:srgbClr val="17181A"/>
                </a:solidFill>
                <a:latin typeface="Arial"/>
              </a:rPr>
              <a:t>6. Смотреть не клики, а заявки/CPL; сейчас 42 клика и 1 заявка — выборка мала.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50">
                <a:solidFill>
                  <a:srgbClr val="D0130D"/>
                </a:solidFill>
                <a:latin typeface="Arial"/>
              </a:rPr>
              <a:t>●  </a:t>
            </a:r>
            <a:r>
              <a:rPr sz="950">
                <a:solidFill>
                  <a:srgbClr val="17181A"/>
                </a:solidFill>
                <a:latin typeface="Arial"/>
              </a:rPr>
              <a:t>7. Проверить, что форма на coordinat.pro передаёт UTM и источник в CRM/Telegram.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650">
                <a:solidFill>
                  <a:srgbClr val="D0130D"/>
                </a:solidFill>
                <a:latin typeface="Arial"/>
              </a:rPr>
              <a:t>●  </a:t>
            </a:r>
            <a:r>
              <a:rPr sz="950">
                <a:solidFill>
                  <a:srgbClr val="17181A"/>
                </a:solidFill>
                <a:latin typeface="Arial"/>
              </a:rPr>
              <a:t>8. После 10–15 заявок — решить, масштабировать или менять креатив/аудиторию.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