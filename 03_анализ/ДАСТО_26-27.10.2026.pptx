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latin typeface="Arial"/>
              </a:rPr>
              <a:t>Заявки по дням: факт + прогноз 29–31.10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D0130D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</c:v>
                </c:pt>
                <c:pt idx="1">
                  <c:v>21</c:v>
                </c:pt>
                <c:pt idx="2">
                  <c:v>22</c:v>
                </c:pt>
                <c:pt idx="3">
                  <c:v>23</c:v>
                </c:pt>
                <c:pt idx="4">
                  <c:v>24</c:v>
                </c:pt>
                <c:pt idx="5">
                  <c:v>25</c:v>
                </c:pt>
                <c:pt idx="6">
                  <c:v>26</c:v>
                </c:pt>
                <c:pt idx="7">
                  <c:v>27</c:v>
                </c:pt>
                <c:pt idx="8">
                  <c:v>29</c:v>
                </c:pt>
                <c:pt idx="9">
                  <c:v>30</c:v>
                </c:pt>
                <c:pt idx="10">
                  <c:v>31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</c:v>
                </c:pt>
                <c:pt idx="1">
                  <c:v>10</c:v>
                </c:pt>
                <c:pt idx="2">
                  <c:v>9</c:v>
                </c:pt>
                <c:pt idx="3">
                  <c:v>16</c:v>
                </c:pt>
                <c:pt idx="4">
                  <c:v>0</c:v>
                </c:pt>
                <c:pt idx="5">
                  <c:v>0</c:v>
                </c:pt>
                <c:pt idx="6">
                  <c:v>13</c:v>
                </c:pt>
                <c:pt idx="7">
                  <c:v>16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Прогноз</c:v>
                </c:pt>
              </c:strCache>
            </c:strRef>
          </c:tx>
          <c:spPr>
            <a:solidFill>
              <a:srgbClr val="9A9A9A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</c:v>
                </c:pt>
                <c:pt idx="1">
                  <c:v>21</c:v>
                </c:pt>
                <c:pt idx="2">
                  <c:v>22</c:v>
                </c:pt>
                <c:pt idx="3">
                  <c:v>23</c:v>
                </c:pt>
                <c:pt idx="4">
                  <c:v>24</c:v>
                </c:pt>
                <c:pt idx="5">
                  <c:v>25</c:v>
                </c:pt>
                <c:pt idx="6">
                  <c:v>26</c:v>
                </c:pt>
                <c:pt idx="7">
                  <c:v>27</c:v>
                </c:pt>
                <c:pt idx="8">
                  <c:v>29</c:v>
                </c:pt>
                <c:pt idx="9">
                  <c:v>30</c:v>
                </c:pt>
                <c:pt idx="10">
                  <c:v>31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14</c:v>
                </c:pt>
                <c:pt idx="9">
                  <c:v>14</c:v>
                </c:pt>
                <c:pt idx="10">
                  <c:v>14</c:v>
                </c:pt>
              </c:numCache>
            </c:numRef>
          </c:val>
        </c:ser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E8E8E4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" cy="36576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GOOGLE ADS / ДАСТО · 2 ДНЯ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ДАСТО: 26–27 октября
и прогноз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29 заявок · $64,51 · CPA $2,23
что растёт, где потери и куда двигаемся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B9B9B9"/>
                </a:solidFill>
                <a:latin typeface="Arial"/>
              </a:rPr>
              <a:t>Подготовлено 28.10.2026 · без изменений в аккаунте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ГЛАВНОЕ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29 заявок за 2 дня, CPA $2,23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26–27.10.2026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D0130D"/>
                </a:solidFill>
                <a:latin typeface="Arial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E6E73"/>
                </a:solidFill>
                <a:latin typeface="Arial"/>
              </a:rPr>
              <a:t>заявок 26–27.10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2588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$64,51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D9D9D9"/>
                </a:solidFill>
                <a:latin typeface="Arial"/>
              </a:rPr>
              <a:t>расход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32588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D0130D"/>
                </a:solidFill>
                <a:latin typeface="Arial"/>
              </a:rPr>
              <a:t>$2,23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8308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E6E73"/>
                </a:solidFill>
                <a:latin typeface="Arial"/>
              </a:rPr>
              <a:t>CPA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2344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32588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D0130D"/>
                </a:solidFill>
                <a:latin typeface="Arial"/>
              </a:rPr>
              <a:t>18,9%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178308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E6E73"/>
                </a:solidFill>
                <a:latin typeface="Arial"/>
              </a:rPr>
              <a:t>конверсия клика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487168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26.10: 13 заявок, $30,11, CPA $2,32.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27.10: 16 заявок, $34,40, CPA $2,15.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Клики: 76 и 77; конверсия 17,1% и 20,8%.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Телефонные звонки: 14 и 12 подтверждённых; вручную по 27-му — 14.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Расход почти ровный, заявки выросли на 23%.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871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D0130D"/>
                </a:solidFill>
                <a:latin typeface="Arial"/>
              </a:rPr>
              <a:t>КУДА ДВИЖЕМСЯ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78892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Два дня подряд 13–16 заявок — это новый уровень против 10–12 ранее.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CPA $2,23 — ниже прошлой недели ($2,97).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Но 27-е дало 16 заявок при том же расходе — качество выросло.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Главный риск — не деньги, а потеря ранга: 40–69% по кампаниям.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ДИНАМИКА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Факт 20–27.10 и прогноз 29–31.10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26–27.10.2026 · без изменений в аккаунте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188720"/>
          <a:ext cx="7498079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75320" y="1280160"/>
            <a:ext cx="3520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Факт: 20–27.10, без выходных 24–25.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23-е — 16 заявок, 26-е — 13, 27-е — 16.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Прогноз 29–31.10: 14 в день (база).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Сценарии: 11 / 14 / 17 в день.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Прогноз — по последним активным дням, не 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26 и 27 октября: все основные метрики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26–27.10.2026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0241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005840"/>
                <a:gridCol w="118872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День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Показы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Заявки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CTR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CPC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CVR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26.10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$30,11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$0,396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$2,32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27.10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$34,40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$0,447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$2,15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1 342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$64,51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$0,422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30" b="0">
                          <a:solidFill>
                            <a:srgbClr val="17181A"/>
                          </a:solidFill>
                          <a:latin typeface="Arial"/>
                        </a:rPr>
                        <a:t>$2,23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474720"/>
            <a:ext cx="11155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26-е: 13 заявок, CPA $2,32; 27-е: 16 заявок, CPA $2,15.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CTR вырос с 10,2% до 12,9%; CVR — с 17,1% до 20,8%.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Расход +$4,29, заявки +3 — рост не за счёт пропорционального бюджета.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27-е — лучший день по заявкам и CPA за последние 7 дней.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КАМПАНИИ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Кто даёт заявки и кто тормозит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26–27.10.2026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0241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1005840"/>
                <a:gridCol w="1005840"/>
                <a:gridCol w="1005840"/>
                <a:gridCol w="822960"/>
                <a:gridCol w="822960"/>
                <a:gridCol w="822960"/>
                <a:gridCol w="82296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Заявки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CVR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IS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lostB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lostR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Top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40" b="1">
                          <a:solidFill>
                            <a:srgbClr val="FFFFFF"/>
                          </a:solidFill>
                          <a:latin typeface="Arial"/>
                        </a:rPr>
                        <a:t>Abs top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$24,86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$2,49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$17,28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$1,73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$14,09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$2,35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$7,08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$2,36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18,8%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65760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СТО-По маркам — лидер по заявкам, но 59% потеряно по бюджету: можно масштабировать.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Регулировка — лучший CPA $1,73; потеря 40% по рангу — есть куда расти.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СТО-Общая — 6 заявок, CPA $2,35, но 57% потеряно по рангу.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657600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Развал — CPA $2,36, но 69% потеряно по рангу: денег не хватает не из-за бюджета.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Ремонт подвески — 0 заявок, $1,21, 10 показов; фактически не работает.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590">
                <a:solidFill>
                  <a:srgbClr val="D0130D"/>
                </a:solidFill>
                <a:latin typeface="Arial"/>
              </a:rPr>
              <a:t>●  </a:t>
            </a:r>
            <a:r>
              <a:rPr sz="890">
                <a:solidFill>
                  <a:srgbClr val="17181A"/>
                </a:solidFill>
                <a:latin typeface="Arial"/>
              </a:rPr>
              <a:t>Главный вывод: масштабировать СТО и Регулировку, чинить ранг Развала/Общей.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ПОТЕРИ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Деньги или ранг?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26–27.10.2026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D0130D"/>
                </a:solidFill>
                <a:latin typeface="Arial"/>
              </a:rPr>
              <a:t>59%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E6E73"/>
                </a:solidFill>
                <a:latin typeface="Arial"/>
              </a:rPr>
              <a:t>lostB у СТО-По маркам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2588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69%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D9D9D9"/>
                </a:solidFill>
                <a:latin typeface="Arial"/>
              </a:rPr>
              <a:t>lostR у Развала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325880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D0130D"/>
                </a:solidFill>
                <a:latin typeface="Arial"/>
              </a:rPr>
              <a:t>57%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8308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E6E73"/>
                </a:solidFill>
                <a:latin typeface="Arial"/>
              </a:rPr>
              <a:t>lostR у СТО-Общей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2344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32588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D0130D"/>
                </a:solidFill>
                <a:latin typeface="Arial"/>
              </a:rPr>
              <a:t>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178308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E6E73"/>
                </a:solidFill>
                <a:latin typeface="Arial"/>
              </a:rPr>
              <a:t>lostR у Регулировки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30">
                <a:solidFill>
                  <a:srgbClr val="D0130D"/>
                </a:solidFill>
                <a:latin typeface="Arial"/>
              </a:rPr>
              <a:t>●  </a:t>
            </a:r>
            <a:r>
              <a:rPr sz="930">
                <a:solidFill>
                  <a:srgbClr val="17181A"/>
                </a:solidFill>
                <a:latin typeface="Arial"/>
              </a:rPr>
              <a:t>Бюджет режет только СТО-По маркам: 59% lostB за 2 дня, 48% 27-го.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30">
                <a:solidFill>
                  <a:srgbClr val="D0130D"/>
                </a:solidFill>
                <a:latin typeface="Arial"/>
              </a:rPr>
              <a:t>●  </a:t>
            </a:r>
            <a:r>
              <a:rPr sz="930">
                <a:solidFill>
                  <a:srgbClr val="17181A"/>
                </a:solidFill>
                <a:latin typeface="Arial"/>
              </a:rPr>
              <a:t>Развал: 69% потеряно по рангу, бюджет 0 — деньги не помогут.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30">
                <a:solidFill>
                  <a:srgbClr val="D0130D"/>
                </a:solidFill>
                <a:latin typeface="Arial"/>
              </a:rPr>
              <a:t>●  </a:t>
            </a:r>
            <a:r>
              <a:rPr sz="930">
                <a:solidFill>
                  <a:srgbClr val="17181A"/>
                </a:solidFill>
                <a:latin typeface="Arial"/>
              </a:rPr>
              <a:t>СТО-Общая: 57% по рангу, 14% по бюджету — сначала ранг/качество.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146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D0130D"/>
                </a:solidFill>
                <a:latin typeface="Arial"/>
              </a:rPr>
              <a:t>ЧТО ЭТО ЗНАЧИТ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816352"/>
            <a:ext cx="53949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30">
                <a:solidFill>
                  <a:srgbClr val="D0130D"/>
                </a:solidFill>
                <a:latin typeface="Arial"/>
              </a:rPr>
              <a:t>●  </a:t>
            </a:r>
            <a:r>
              <a:rPr sz="930">
                <a:solidFill>
                  <a:srgbClr val="17181A"/>
                </a:solidFill>
                <a:latin typeface="Arial"/>
              </a:rPr>
              <a:t>Не размазывать бюджет по всем: СТО-По маркам — первый кандидат на +$5–10/день.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30">
                <a:solidFill>
                  <a:srgbClr val="D0130D"/>
                </a:solidFill>
                <a:latin typeface="Arial"/>
              </a:rPr>
              <a:t>●  </a:t>
            </a:r>
            <a:r>
              <a:rPr sz="930">
                <a:solidFill>
                  <a:srgbClr val="17181A"/>
                </a:solidFill>
                <a:latin typeface="Arial"/>
              </a:rPr>
              <a:t>Развал/Общая — не бюджет, а ставки/QS/объявления.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30">
                <a:solidFill>
                  <a:srgbClr val="D0130D"/>
                </a:solidFill>
                <a:latin typeface="Arial"/>
              </a:rPr>
              <a:t>●  </a:t>
            </a:r>
            <a:r>
              <a:rPr sz="930">
                <a:solidFill>
                  <a:srgbClr val="17181A"/>
                </a:solidFill>
                <a:latin typeface="Arial"/>
              </a:rPr>
              <a:t>Подвеска — 0 заявок; чинить или выключать.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30">
                <a:solidFill>
                  <a:srgbClr val="D0130D"/>
                </a:solidFill>
                <a:latin typeface="Arial"/>
              </a:rPr>
              <a:t>●  </a:t>
            </a:r>
            <a:r>
              <a:rPr sz="930">
                <a:solidFill>
                  <a:srgbClr val="17181A"/>
                </a:solidFill>
                <a:latin typeface="Arial"/>
              </a:rPr>
              <a:t>Рост до 17–20/день требует двух рычагов: бюджет + ранг.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ПРОГНОЗ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29–31 октября: три сценария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26–27.10.2026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8686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828800"/>
                <a:gridCol w="16459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Сценарий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Заявок/день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Заявок за 3 дня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36576" marR="36576" marT="9144" marB="9144" anchor="ctr">
                    <a:solidFill>
                      <a:srgbClr val="1718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Осторожный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$90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$2,73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Базовый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$96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$2,29</a:t>
                      </a:r>
                    </a:p>
                  </a:txBody>
                  <a:tcPr marL="36576" marR="36576" marT="9144" marB="9144" anchor="ctr">
                    <a:solidFill>
                      <a:srgbClr val="EFEF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Оптимистичный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$112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7181A"/>
                          </a:solidFill>
                          <a:latin typeface="Arial"/>
                        </a:rPr>
                        <a:t>$2,20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8328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База: 14/день = 42 заявки, $96, CPA $2,29.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Осторожный: 11/день = 33, $90, CPA $2,73.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Оптимистичный: 17/день = 51, $112, CPA $2,20.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Прогноз построен по последним активным дням, не гарантия.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3832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19" b="1">
                <a:solidFill>
                  <a:srgbClr val="D0130D"/>
                </a:solidFill>
                <a:latin typeface="Arial"/>
              </a:rPr>
              <a:t>ЧТО ДОЛЖНО СБЫТЬСЯ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685032"/>
            <a:ext cx="53949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СТО-По маркам: +$5/день и снятие бюджетного потолка.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Регулировка: удержать CPA $1,7–2,0.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Развал/Общая: поднять ранг, иначе прогноз не сбудется.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Контроль: заявки/день, CPA, lostB/lostR.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Куда двигаемся дальше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26–27.10.2026 · без изменений в аккаунте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26–27.10: 29 заявок, $64,51, CPA $2,23, CVR 18,9% — это хороший уровень.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Рост 27-го: 16 заявок при $34,40; CPA $2,15 — лучше 26-го.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Первый рычаг: СТО-По маркам — 59% lostB; +$5–10/день, цель 12–14 заявок/день.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Второй рычаг: Регулировка — CPA $1,73, 40% lostR; поднимать ранг, не резать CPA.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Развал и СТО-Общая — ранг/качество; Подвеска — чинить или выключать.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750">
                <a:solidFill>
                  <a:srgbClr val="D0130D"/>
                </a:solidFill>
                <a:latin typeface="Arial"/>
              </a:rPr>
              <a:t>●  </a:t>
            </a:r>
            <a:r>
              <a:rPr sz="1050">
                <a:solidFill>
                  <a:srgbClr val="17181A"/>
                </a:solidFill>
                <a:latin typeface="Arial"/>
              </a:rPr>
              <a:t>Прогноз 29–31.10: база 42 заявки, $96, CPA $2,29; оптимистично 51, $112, CPA $2,20.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