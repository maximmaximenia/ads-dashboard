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Конверсии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Sheet1!$A$2:$A$13</c:f>
              <c:strCache>
                <c:ptCount val="12"/>
                <c:pt idx="0">
                  <c:v>13.10</c:v>
                </c:pt>
                <c:pt idx="1">
                  <c:v>14.10</c:v>
                </c:pt>
                <c:pt idx="2">
                  <c:v>15.10</c:v>
                </c:pt>
                <c:pt idx="3">
                  <c:v>16.10</c:v>
                </c:pt>
                <c:pt idx="4">
                  <c:v>19.10</c:v>
                </c:pt>
                <c:pt idx="5">
                  <c:v>20.10</c:v>
                </c:pt>
                <c:pt idx="6">
                  <c:v>21.10</c:v>
                </c:pt>
                <c:pt idx="7">
                  <c:v>22.10</c:v>
                </c:pt>
                <c:pt idx="8">
                  <c:v>23.10</c:v>
                </c:pt>
                <c:pt idx="9">
                  <c:v>26.10</c:v>
                </c:pt>
                <c:pt idx="10">
                  <c:v>27.10</c:v>
                </c:pt>
                <c:pt idx="11">
                  <c:v>28.10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11.008361</c:v>
                </c:pt>
                <c:pt idx="1">
                  <c:v>10.0</c:v>
                </c:pt>
                <c:pt idx="2">
                  <c:v>7.0</c:v>
                </c:pt>
                <c:pt idx="3">
                  <c:v>8.983278</c:v>
                </c:pt>
                <c:pt idx="4">
                  <c:v>3.008336</c:v>
                </c:pt>
                <c:pt idx="5">
                  <c:v>7.008329</c:v>
                </c:pt>
                <c:pt idx="6">
                  <c:v>10.0</c:v>
                </c:pt>
                <c:pt idx="7">
                  <c:v>9.999993</c:v>
                </c:pt>
                <c:pt idx="8">
                  <c:v>16.0</c:v>
                </c:pt>
                <c:pt idx="9">
                  <c:v>13.0</c:v>
                </c:pt>
                <c:pt idx="10">
                  <c:v>15.983342</c:v>
                </c:pt>
                <c:pt idx="11">
                  <c:v>6.0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 b="1">
                  <a:solidFill>
                    <a:srgbClr val="14171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8ED"/>
            </a:solidFill>
          </a:ln>
        </c:spPr>
        <c:txPr>
          <a:bodyPr/>
          <a:lstStyle/>
          <a:p>
            <a:pPr>
              <a:defRPr sz="800">
                <a:solidFill>
                  <a:srgbClr val="6B728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До</c:v>
                </c:pt>
              </c:strCache>
            </c:strRef>
          </c:tx>
          <c:spPr>
            <a:solidFill>
              <a:srgbClr val="6B7280"/>
            </a:solidFill>
          </c:spPr>
          <c:cat>
            <c:strRef>
              <c:f>Sheet1!$A$2:$A$5</c:f>
              <c:strCache>
                <c:ptCount val="4"/>
                <c:pt idx="0">
                  <c:v>целевая цена $2,50 → $</c:v>
                </c:pt>
                <c:pt idx="1">
                  <c:v>затем $1,70 → $1,60</c:v>
                </c:pt>
                <c:pt idx="2">
                  <c:v>бюджет $10 → $15</c:v>
                </c:pt>
                <c:pt idx="3">
                  <c:v>бюджет $5 → $10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3.0</c:v>
                </c:pt>
                <c:pt idx="1">
                  <c:v>6.0</c:v>
                </c:pt>
                <c:pt idx="2">
                  <c:v>7.0</c:v>
                </c:pt>
                <c:pt idx="3">
                  <c:v>1.5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Sheet1!$A$2:$A$5</c:f>
              <c:strCache>
                <c:ptCount val="4"/>
                <c:pt idx="0">
                  <c:v>целевая цена $2,50 → $</c:v>
                </c:pt>
                <c:pt idx="1">
                  <c:v>затем $1,70 → $1,60</c:v>
                </c:pt>
                <c:pt idx="2">
                  <c:v>бюджет $10 → $15</c:v>
                </c:pt>
                <c:pt idx="3">
                  <c:v>бюджет $5 → $10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6.0</c:v>
                </c:pt>
                <c:pt idx="1">
                  <c:v>1.9958355</c:v>
                </c:pt>
                <c:pt idx="2">
                  <c:v>4.4958355</c:v>
                </c:pt>
                <c:pt idx="3">
                  <c:v>1.3333333333333333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800" b="1">
                  <a:solidFill>
                    <a:srgbClr val="14171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8ED"/>
            </a:solidFill>
          </a:ln>
        </c:spPr>
        <c:txPr>
          <a:bodyPr/>
          <a:lstStyle/>
          <a:p>
            <a:pPr>
              <a:defRPr sz="800">
                <a:solidFill>
                  <a:srgbClr val="6B728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50">
              <a:solidFill>
                <a:srgbClr val="6B7280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Получено, %</c:v>
                </c:pt>
              </c:strCache>
            </c:strRef>
          </c:tx>
          <c:spPr>
            <a:solidFill>
              <a:srgbClr val="059669"/>
            </a:solidFill>
          </c:spPr>
          <c:cat>
            <c:strRef>
              <c:f>Sheet1!$A$2:$A$7</c:f>
              <c:strCache>
                <c:ptCount val="6"/>
                <c:pt idx="0">
                  <c:v>СТО - По маркам</c:v>
                </c:pt>
                <c:pt idx="1">
                  <c:v>Регулировка фар</c:v>
                </c:pt>
                <c:pt idx="2">
                  <c:v>Развал-схождение</c:v>
                </c:pt>
                <c:pt idx="3">
                  <c:v>СТО - Общая</c:v>
                </c:pt>
                <c:pt idx="4">
                  <c:v>Проточка тормозн</c:v>
                </c:pt>
                <c:pt idx="5">
                  <c:v>Ремонт подвески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54.364896073903004</c:v>
                </c:pt>
                <c:pt idx="1">
                  <c:v>63.64734299516909</c:v>
                </c:pt>
                <c:pt idx="2">
                  <c:v>49.81203007518797</c:v>
                </c:pt>
                <c:pt idx="3">
                  <c:v>24.878606112539277</c:v>
                </c:pt>
                <c:pt idx="4">
                  <c:v>55.73770491803278</c:v>
                </c:pt>
                <c:pt idx="5">
                  <c:v>15.384615384615385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Потеря: бюджет, %</c:v>
                </c:pt>
              </c:strCache>
            </c:strRef>
          </c:tx>
          <c:spPr>
            <a:solidFill>
              <a:srgbClr val="DC2626"/>
            </a:solidFill>
          </c:spPr>
          <c:cat>
            <c:strRef>
              <c:f>Sheet1!$A$2:$A$7</c:f>
              <c:strCache>
                <c:ptCount val="6"/>
                <c:pt idx="0">
                  <c:v>СТО - По маркам</c:v>
                </c:pt>
                <c:pt idx="1">
                  <c:v>Регулировка фар</c:v>
                </c:pt>
                <c:pt idx="2">
                  <c:v>Развал-схождение</c:v>
                </c:pt>
                <c:pt idx="3">
                  <c:v>СТО - Общая</c:v>
                </c:pt>
                <c:pt idx="4">
                  <c:v>Проточка тормозн</c:v>
                </c:pt>
                <c:pt idx="5">
                  <c:v>Ремонт подвески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20.785219399538107</c:v>
                </c:pt>
                <c:pt idx="1">
                  <c:v>0.0</c:v>
                </c:pt>
                <c:pt idx="2">
                  <c:v>13.659147869674184</c:v>
                </c:pt>
                <c:pt idx="3">
                  <c:v>16.13824621536704</c:v>
                </c:pt>
                <c:pt idx="4">
                  <c:v>1.639344262295082</c:v>
                </c:pt>
                <c:pt idx="5">
                  <c:v>10.48951048951049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Потеря: ранг, %</c:v>
                </c:pt>
              </c:strCache>
            </c:strRef>
          </c:tx>
          <c:spPr>
            <a:solidFill>
              <a:srgbClr val="6B7280"/>
            </a:solidFill>
          </c:spPr>
          <c:cat>
            <c:strRef>
              <c:f>Sheet1!$A$2:$A$7</c:f>
              <c:strCache>
                <c:ptCount val="6"/>
                <c:pt idx="0">
                  <c:v>СТО - По маркам</c:v>
                </c:pt>
                <c:pt idx="1">
                  <c:v>Регулировка фар</c:v>
                </c:pt>
                <c:pt idx="2">
                  <c:v>Развал-схождение</c:v>
                </c:pt>
                <c:pt idx="3">
                  <c:v>СТО - Общая</c:v>
                </c:pt>
                <c:pt idx="4">
                  <c:v>Проточка тормозн</c:v>
                </c:pt>
                <c:pt idx="5">
                  <c:v>Ремонт подвески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24.849884526558892</c:v>
                </c:pt>
                <c:pt idx="1">
                  <c:v>36.35265700483092</c:v>
                </c:pt>
                <c:pt idx="2">
                  <c:v>36.528822055137844</c:v>
                </c:pt>
                <c:pt idx="3">
                  <c:v>58.983147672093686</c:v>
                </c:pt>
                <c:pt idx="4">
                  <c:v>42.62295081967213</c:v>
                </c:pt>
                <c:pt idx="5">
                  <c:v>74.12587412587412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 b="1">
                  <a:solidFill>
                    <a:srgbClr val="14171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8ED"/>
            </a:solidFill>
          </a:ln>
        </c:spPr>
        <c:txPr>
          <a:bodyPr/>
          <a:lstStyle/>
          <a:p>
            <a:pPr>
              <a:defRPr sz="800">
                <a:solidFill>
                  <a:srgbClr val="6B728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50">
              <a:solidFill>
                <a:srgbClr val="6B7280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выше среднего</c:v>
                </c:pt>
              </c:strCache>
            </c:strRef>
          </c:tx>
          <c:spPr>
            <a:solidFill>
              <a:srgbClr val="059669"/>
            </a:solidFill>
          </c:spPr>
          <c:cat>
            <c:strRef>
              <c:f>Sheet1!$A$2:$A$4</c:f>
              <c:strCache>
                <c:ptCount val="3"/>
                <c:pt idx="0">
                  <c:v>объявление</c:v>
                </c:pt>
                <c:pt idx="1">
                  <c:v>ожидаемый CTR</c:v>
                </c:pt>
                <c:pt idx="2">
                  <c:v>посадочная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97</c:v>
                </c:pt>
                <c:pt idx="1">
                  <c:v>77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средне</c:v>
                </c:pt>
              </c:strCache>
            </c:strRef>
          </c:tx>
          <c:spPr>
            <a:solidFill>
              <a:srgbClr val="D97706"/>
            </a:solidFill>
          </c:spPr>
          <c:cat>
            <c:strRef>
              <c:f>Sheet1!$A$2:$A$4</c:f>
              <c:strCache>
                <c:ptCount val="3"/>
                <c:pt idx="0">
                  <c:v>объявление</c:v>
                </c:pt>
                <c:pt idx="1">
                  <c:v>ожидаемый CTR</c:v>
                </c:pt>
                <c:pt idx="2">
                  <c:v>посадочная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</c:v>
                </c:pt>
                <c:pt idx="1">
                  <c:v>28</c:v>
                </c:pt>
                <c:pt idx="2">
                  <c:v>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ниже среднего</c:v>
                </c:pt>
              </c:strCache>
            </c:strRef>
          </c:tx>
          <c:spPr>
            <a:solidFill>
              <a:srgbClr val="DC2626"/>
            </a:solidFill>
          </c:spPr>
          <c:cat>
            <c:strRef>
              <c:f>Sheet1!$A$2:$A$4</c:f>
              <c:strCache>
                <c:ptCount val="3"/>
                <c:pt idx="0">
                  <c:v>объявление</c:v>
                </c:pt>
                <c:pt idx="1">
                  <c:v>ожидаемый CTR</c:v>
                </c:pt>
                <c:pt idx="2">
                  <c:v>посадочная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</c:v>
                </c:pt>
                <c:pt idx="1">
                  <c:v>15</c:v>
                </c:pt>
                <c:pt idx="2">
                  <c:v>114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 b="1">
                  <a:solidFill>
                    <a:srgbClr val="14171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8ED"/>
            </a:solidFill>
          </a:ln>
        </c:spPr>
        <c:txPr>
          <a:bodyPr/>
          <a:lstStyle/>
          <a:p>
            <a:pPr>
              <a:defRPr sz="800">
                <a:solidFill>
                  <a:srgbClr val="6B728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50">
              <a:solidFill>
                <a:srgbClr val="6B7280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0116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3B4FD"/>
                </a:solidFill>
                <a:latin typeface="Arial"/>
              </a:rPr>
              <a:t>GOOGLE ADS / ДАСТО — СТО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77440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Глубокий разбор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00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A0A6"/>
                </a:solidFill>
                <a:latin typeface="Arial"/>
              </a:rPr>
              <a:t>неделя к неделе · эффект правок · ключи и запросы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931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20–28 октября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943600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Arial"/>
              </a:rPr>
              <a:t>Подготовлено 29.10.2026 · в аккаунте ничего не менял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НЕДЕЛИ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13385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4171C"/>
                </a:solidFill>
                <a:latin typeface="Arial"/>
              </a:rPr>
              <a:t>Конверсий столько же, но дешевле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87552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ДАСТО — СТО · 20–28.10.2026 · в аккаунте ничего не менял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274552" cy="12700"/>
          </a:xfrm>
          <a:prstGeom prst="rect">
            <a:avLst/>
          </a:prstGeom>
          <a:solidFill>
            <a:srgbClr val="E5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1772412" cy="86868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9525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581912"/>
            <a:ext cx="14980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14171C"/>
                </a:solidFill>
                <a:latin typeface="Arial"/>
              </a:rPr>
              <a:t>11.0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993392"/>
            <a:ext cx="14980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конверсий в день, эта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57628" y="1463040"/>
            <a:ext cx="1772412" cy="86868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9525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03932" y="1581912"/>
            <a:ext cx="14980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6B7280"/>
                </a:solidFill>
                <a:latin typeface="Arial"/>
              </a:rPr>
              <a:t>11.2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03932" y="1993392"/>
            <a:ext cx="14980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было на прошлой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8056" y="1463040"/>
            <a:ext cx="1772412" cy="86868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9525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360" y="1581912"/>
            <a:ext cx="14980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059669"/>
                </a:solidFill>
                <a:latin typeface="Arial"/>
              </a:rPr>
              <a:t>$2.53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4360" y="1993392"/>
            <a:ext cx="14980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цена конверсии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8484" y="1463040"/>
            <a:ext cx="1772412" cy="86868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9525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4788" y="1581912"/>
            <a:ext cx="14980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6B7280"/>
                </a:solidFill>
                <a:latin typeface="Arial"/>
              </a:rPr>
              <a:t>$2.92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4788" y="1993392"/>
            <a:ext cx="14980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было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8912" y="1463040"/>
            <a:ext cx="1772412" cy="86868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9525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5216" y="1581912"/>
            <a:ext cx="14980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059669"/>
                </a:solidFill>
                <a:latin typeface="Arial"/>
              </a:rPr>
              <a:t>17.6%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5216" y="1993392"/>
            <a:ext cx="14980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конверсия из клика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59340" y="1463040"/>
            <a:ext cx="1772412" cy="86868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9525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05644" y="1581912"/>
            <a:ext cx="14980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6B7280"/>
                </a:solidFill>
                <a:latin typeface="Arial"/>
              </a:rPr>
              <a:t>13.2%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05644" y="1993392"/>
            <a:ext cx="14980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было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57200" y="2514600"/>
          <a:ext cx="11274549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9342"/>
                <a:gridCol w="827490"/>
                <a:gridCol w="1241235"/>
                <a:gridCol w="1034362"/>
                <a:gridCol w="1241235"/>
                <a:gridCol w="1034362"/>
                <a:gridCol w="1344671"/>
                <a:gridCol w="1861852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Период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Дней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Расход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Клики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Конверсии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В день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Цена конв.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Конверсия из клика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Прошлая 10-20–10-26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$163.40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425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11.2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$2.92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13.2%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Эта 10-27–10-28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$55.69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11.0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9669"/>
                          </a:solidFill>
                          <a:latin typeface="Arial"/>
                        </a:rPr>
                        <a:t>$2.53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9669"/>
                          </a:solidFill>
                          <a:latin typeface="Arial"/>
                        </a:rPr>
                        <a:t>17.6%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457200" y="3931920"/>
            <a:ext cx="11274552" cy="2103120"/>
          </a:xfrm>
          <a:prstGeom prst="roundRect">
            <a:avLst>
              <a:gd name="adj" fmla="val 5000"/>
            </a:avLst>
          </a:prstGeom>
          <a:solidFill>
            <a:srgbClr val="F0FAF5"/>
          </a:solidFill>
          <a:ln w="9525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931920"/>
            <a:ext cx="38100" cy="21031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032504"/>
            <a:ext cx="109087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171C"/>
                </a:solidFill>
                <a:latin typeface="Arial"/>
              </a:rPr>
              <a:t>Что это значит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315968"/>
            <a:ext cx="10908792" cy="1600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14171C"/>
                </a:solidFill>
                <a:latin typeface="Arial"/>
              </a:rPr>
              <a:t/>
            </a:r>
            <a:r>
              <a:rPr sz="1000">
                <a:solidFill>
                  <a:srgbClr val="14171C"/>
                </a:solidFill>
                <a:latin typeface="Arial"/>
              </a:rPr>
              <a:t>•  Объём держится: 11.2 против 11.0 конверсий в день — разница в пределах дневного разброса.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14171C"/>
                </a:solidFill>
                <a:latin typeface="Arial"/>
              </a:rPr>
              <a:t>•  Цена упала с $2.92 до $2.53, конверсия из клика выросла с 13.2% до 17.6%.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14171C"/>
                </a:solidFill>
                <a:latin typeface="Arial"/>
              </a:rPr>
              <a:t>•  То есть кликов стало меньше, но они стали лучше. Это работа «Максимума конверсий»: система отсекает слабые аукционы.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14171C"/>
                </a:solidFill>
                <a:latin typeface="Arial"/>
              </a:rPr>
              <a:t>•  Оговорка: в этой неделе два дня, 27 и 28. Данных за 29-е ещё нет. Выводы предварительные.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ПО ДНЯМ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13385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4171C"/>
                </a:solidFill>
                <a:latin typeface="Arial"/>
              </a:rPr>
              <a:t>Конверсии и расход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87552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ДАСТО — СТО · 20–28.10.2026 · в аккаунте ничего не менял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274552" cy="12700"/>
          </a:xfrm>
          <a:prstGeom prst="rect">
            <a:avLst/>
          </a:prstGeom>
          <a:solidFill>
            <a:srgbClr val="E5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17320"/>
          <a:ext cx="11274552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840480"/>
          <a:ext cx="11274550" cy="2555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2268"/>
                <a:gridCol w="1724343"/>
                <a:gridCol w="1724343"/>
                <a:gridCol w="1856985"/>
                <a:gridCol w="1459059"/>
                <a:gridCol w="2387552"/>
              </a:tblGrid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Дата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Конверсии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Расход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Цена конв.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Клики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Конверсия из клика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13.10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$31.93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$2.90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12.2%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14.10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$31.26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$3.13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11.6%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15.10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$31.66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$4.52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8.1%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16.10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$34.14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$3.80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11.0%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19.10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$31.78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$10.56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3.2%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20.10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$34.41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$4.91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7.4%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21.10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$34.15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$3.42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10.3%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22.10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$35.44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$3.54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11.4%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23.10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$29.29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$1.83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23.2%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26.10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$30.11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$2.32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17.1%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27.10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$34.40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$2.15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20.8%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28.10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$21.29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$3.55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12.5%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6400800"/>
            <a:ext cx="11274552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400800"/>
            <a:ext cx="38100" cy="3657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109087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171C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784848"/>
            <a:ext cx="10908792" cy="-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71C"/>
                </a:solidFill>
                <a:latin typeface="Arial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23 и 27 октября — по 16 конверсий, это максимумы. 28-е неполное: расход $21 против обычных $30–35.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ПРАВКИ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13385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4171C"/>
                </a:solidFill>
                <a:latin typeface="Arial"/>
              </a:rPr>
              <a:t>Что менялось и что из этого вышло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87552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ДАСТО — СТО · 20–28.10.2026 · в аккаунте ничего не менял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274552" cy="12700"/>
          </a:xfrm>
          <a:prstGeom prst="rect">
            <a:avLst/>
          </a:prstGeom>
          <a:solidFill>
            <a:srgbClr val="E5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74551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092"/>
                <a:gridCol w="2818638"/>
                <a:gridCol w="3993070"/>
                <a:gridCol w="2583751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Когда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Кампания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Что изменилось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Было → стало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27.10 12:52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СТО - По маркам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дневной бюджет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$10 → $15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27.10 10:53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Регулировка фар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целевая цена конверсии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$1,70 → $1,60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26.10 15:04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Регулировка фар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целевая цена конверсии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$2,50 → $1,70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26.10 08:37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Ремонт подвески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перевод на «Максимум конверсий»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— → $2,00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26.10 08:36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Развал-схождение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целевая цена конверсии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$2,50 → $2,00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23.10 16:05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Развал-схождение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перевод на «Максимум конверсий»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— → $2,50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23.10 08:57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Регулировка фар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перевод на «Максимум конверсий»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— → $2,50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23.10 14:48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СТО - По маркам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предельная цена клика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$0,40 → снята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21.10 09:58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Развал-схождение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дневной бюджет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$5 → $10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572000"/>
            <a:ext cx="11274552" cy="1737360"/>
          </a:xfrm>
          <a:prstGeom prst="roundRect">
            <a:avLst>
              <a:gd name="adj" fmla="val 5000"/>
            </a:avLst>
          </a:prstGeom>
          <a:solidFill>
            <a:srgbClr val="FDF9F0"/>
          </a:solidFill>
          <a:ln w="9525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4572000"/>
            <a:ext cx="38100" cy="17373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672584"/>
            <a:ext cx="109087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171C"/>
                </a:solidFill>
                <a:latin typeface="Arial"/>
              </a:rPr>
              <a:t>Плюс ручной режим работы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56048"/>
            <a:ext cx="10908792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14171C"/>
                </a:solidFill>
                <a:latin typeface="Arial"/>
              </a:rPr>
              <a:t/>
            </a:r>
            <a:r>
              <a:rPr sz="1000">
                <a:solidFill>
                  <a:srgbClr val="14171C"/>
                </a:solidFill>
                <a:latin typeface="Arial"/>
              </a:rPr>
              <a:t>•  Кампании включаются утром между 8:30 и 9:00 и выключаются вечером между 16:50 и 18:30 — каждый день вручную.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14171C"/>
                </a:solidFill>
                <a:latin typeface="Arial"/>
              </a:rPr>
              <a:t>•  За 20–28 октября это 42 переключения статуса. Для «Максимума конверсий» такие паузы — помеха: стратегия заново набирает данные после каждого включения.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14171C"/>
                </a:solidFill>
                <a:latin typeface="Arial"/>
              </a:rPr>
              <a:t>•  Если нужен показ только в рабочие часы, это делается расписанием показа, а не руками.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ЭФФЕКТ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13385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4171C"/>
                </a:solidFill>
                <a:latin typeface="Arial"/>
              </a:rPr>
              <a:t>Три правки: одна сработала, две нет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87552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ДАСТО — СТО · 20–28.10.2026 · в аккаунте ничего не менял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274552" cy="12700"/>
          </a:xfrm>
          <a:prstGeom prst="rect">
            <a:avLst/>
          </a:prstGeom>
          <a:solidFill>
            <a:srgbClr val="E5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74547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6870"/>
                <a:gridCol w="2745108"/>
                <a:gridCol w="1470593"/>
                <a:gridCol w="1176474"/>
                <a:gridCol w="1274514"/>
                <a:gridCol w="1176474"/>
                <a:gridCol w="1274514"/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Кампания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Правка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Было, конв/день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Стало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Было, цена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Стало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Итог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Регулировка фар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целевая цена $2,50 → $1,70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3.0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9669"/>
                          </a:solidFill>
                          <a:latin typeface="Arial"/>
                        </a:rPr>
                        <a:t>6.0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$1.60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$1.50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9669"/>
                          </a:solidFill>
                          <a:latin typeface="Arial"/>
                        </a:rPr>
                        <a:t>сработало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Регулировка фар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затем $1,70 → $1,60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6.0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DC2626"/>
                          </a:solidFill>
                          <a:latin typeface="Arial"/>
                        </a:rPr>
                        <a:t>2.0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$1.50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$2.79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DC2626"/>
                          </a:solidFill>
                          <a:latin typeface="Arial"/>
                        </a:rPr>
                        <a:t>хуже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СТО - По маркам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бюджет $10 → $15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7.0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DC2626"/>
                          </a:solidFill>
                          <a:latin typeface="Arial"/>
                        </a:rPr>
                        <a:t>4.5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$1.77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$3.39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DC2626"/>
                          </a:solidFill>
                          <a:latin typeface="Arial"/>
                        </a:rPr>
                        <a:t>хуже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Развал-схождение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бюджет $5 → $10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1.5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DC2626"/>
                          </a:solidFill>
                          <a:latin typeface="Arial"/>
                        </a:rPr>
                        <a:t>1.3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$3.68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$5.99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DC2626"/>
                          </a:solidFill>
                          <a:latin typeface="Arial"/>
                        </a:rPr>
                        <a:t>хуже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3291840"/>
          <a:ext cx="11274552" cy="2103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5577840"/>
            <a:ext cx="11274552" cy="1005840"/>
          </a:xfrm>
          <a:prstGeom prst="roundRect">
            <a:avLst>
              <a:gd name="adj" fmla="val 5000"/>
            </a:avLst>
          </a:prstGeom>
          <a:solidFill>
            <a:srgbClr val="FDF9F0"/>
          </a:solidFill>
          <a:ln w="9525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5577840"/>
            <a:ext cx="38100" cy="10058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678424"/>
            <a:ext cx="109087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171C"/>
                </a:solidFill>
                <a:latin typeface="Arial"/>
              </a:rPr>
              <a:t>Читается так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61888"/>
            <a:ext cx="1090879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14171C"/>
                </a:solidFill>
                <a:latin typeface="Arial"/>
              </a:rPr>
              <a:t/>
            </a:r>
            <a:r>
              <a:rPr sz="1000">
                <a:solidFill>
                  <a:srgbClr val="14171C"/>
                </a:solidFill>
                <a:latin typeface="Arial"/>
              </a:rPr>
              <a:t>•  Снижение целевой цены с $2,50 до $1,70 удвоило объём: 3,0 → 6,0 конверсий в день. Дальнейшее снижение до $1,60 откатило обратно к 2,0.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14171C"/>
                </a:solidFill>
                <a:latin typeface="Arial"/>
              </a:rPr>
              <a:t>•  Бюджет СТО — По маркам до $15 объёма не дал: 7,0 → 4,5 конверсии в день, цена выросла с $1,77 до $3,39. Каждая правка измерена на 1–2 днях.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КАМПАНИИ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13385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4171C"/>
                </a:solidFill>
                <a:latin typeface="Arial"/>
              </a:rPr>
              <a:t>Кто вырос, кто просел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87552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ДАСТО — СТО · 20–28.10.2026 · в аккаунте ничего не менял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274552" cy="12700"/>
          </a:xfrm>
          <a:prstGeom prst="rect">
            <a:avLst/>
          </a:prstGeom>
          <a:solidFill>
            <a:srgbClr val="E5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7455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7176"/>
                <a:gridCol w="1828305"/>
                <a:gridCol w="1015725"/>
                <a:gridCol w="1320443"/>
                <a:gridCol w="1422015"/>
                <a:gridCol w="1320443"/>
                <a:gridCol w="1320443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Кампания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Конв/день прошлая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Эта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Изменение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Цена прошлая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Цена эта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Расход эта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СТО - По маркам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5.2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4.5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DC2626"/>
                          </a:solidFill>
                          <a:latin typeface="Arial"/>
                        </a:rPr>
                        <a:t>-14%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$2.52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$3.39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$30.53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СТО - Общая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3.5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9669"/>
                          </a:solidFill>
                          <a:latin typeface="Arial"/>
                        </a:rPr>
                        <a:t>+250%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$3.13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$1.38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$9.63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Регулировка фар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3.6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2.0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DC2626"/>
                          </a:solidFill>
                          <a:latin typeface="Arial"/>
                        </a:rPr>
                        <a:t>-45%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$2.54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$2.79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$11.12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Развал-схождение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1.4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DC2626"/>
                          </a:solidFill>
                          <a:latin typeface="Arial"/>
                        </a:rPr>
                        <a:t>-29%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$4.53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$2.21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$4.42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384048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F0FAF5"/>
          </a:solidFill>
          <a:ln w="9525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3840480"/>
            <a:ext cx="38100" cy="2286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41064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171C"/>
                </a:solidFill>
                <a:latin typeface="Arial"/>
              </a:rPr>
              <a:t>Выросла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24528"/>
            <a:ext cx="512064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14171C"/>
                </a:solidFill>
                <a:latin typeface="Arial"/>
              </a:rPr>
              <a:t/>
            </a:r>
            <a:r>
              <a:rPr sz="1000">
                <a:solidFill>
                  <a:srgbClr val="14171C"/>
                </a:solidFill>
                <a:latin typeface="Arial"/>
              </a:rPr>
              <a:t>•  СТО — Общая: 1,0 → 3,5 конверсии в день, цена упала с $3,13 до $1,38.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14171C"/>
                </a:solidFill>
                <a:latin typeface="Arial"/>
              </a:rPr>
              <a:t>•  Это лучшая цена конверсии в аккаунте на этой неделе.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14171C"/>
                </a:solidFill>
                <a:latin typeface="Arial"/>
              </a:rPr>
              <a:t>•  При этом доля показов всего 25%, а 59% теряется из-за ранга — то есть кампания работает на четверти своего потенциала.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384048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FDF2F2"/>
          </a:solidFill>
          <a:ln w="9525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3840480"/>
            <a:ext cx="38100" cy="22860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3941064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171C"/>
                </a:solidFill>
                <a:latin typeface="Arial"/>
              </a:rPr>
              <a:t>Просели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4224528"/>
            <a:ext cx="512064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14171C"/>
                </a:solidFill>
                <a:latin typeface="Arial"/>
              </a:rPr>
              <a:t/>
            </a:r>
            <a:r>
              <a:rPr sz="1000">
                <a:solidFill>
                  <a:srgbClr val="14171C"/>
                </a:solidFill>
                <a:latin typeface="Arial"/>
              </a:rPr>
              <a:t>•  СТО — По маркам: 5,2 → 4,5, цена $2,52 → $3,39. Это после повышения бюджета.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14171C"/>
                </a:solidFill>
                <a:latin typeface="Arial"/>
              </a:rPr>
              <a:t>•  Регулировка фар: 3,6 → 2,0, цена $2,54 → $2,79. Это после снижения целевой цены до $1,60.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14171C"/>
                </a:solidFill>
                <a:latin typeface="Arial"/>
              </a:rPr>
              <a:t>•  Обе просадки совпали с правками, а не предшествовали им.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АУКЦИОН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13385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4171C"/>
                </a:solidFill>
                <a:latin typeface="Arial"/>
              </a:rPr>
              <a:t>Где теряем показы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87552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ДАСТО — СТО · 20–28.10.2026 · в аккаунте ничего не менял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274552" cy="12700"/>
          </a:xfrm>
          <a:prstGeom prst="rect">
            <a:avLst/>
          </a:prstGeom>
          <a:solidFill>
            <a:srgbClr val="E5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17320"/>
          <a:ext cx="11274552" cy="2651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4251960"/>
          <a:ext cx="11274550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3850"/>
                <a:gridCol w="1641925"/>
                <a:gridCol w="1751386"/>
                <a:gridCol w="1532463"/>
                <a:gridCol w="1641925"/>
                <a:gridCol w="1423001"/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Кампания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Доля показов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Потеря: бюджет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Потеря: ранг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Верх страницы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Самый верх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СТО - По маркам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54%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DC2626"/>
                          </a:solidFill>
                          <a:latin typeface="Arial"/>
                        </a:rPr>
                        <a:t>21%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45%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14%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Регулировка фар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64%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DC2626"/>
                          </a:solidFill>
                          <a:latin typeface="Arial"/>
                        </a:rPr>
                        <a:t>36%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55%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27%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Развал-схождение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14%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DC2626"/>
                          </a:solidFill>
                          <a:latin typeface="Arial"/>
                        </a:rPr>
                        <a:t>37%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39%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11%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СТО - Общая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DC2626"/>
                          </a:solidFill>
                          <a:latin typeface="Arial"/>
                        </a:rPr>
                        <a:t>16%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DC2626"/>
                          </a:solidFill>
                          <a:latin typeface="Arial"/>
                        </a:rPr>
                        <a:t>59%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19%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Проточка тормозных дисков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56%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2%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DC2626"/>
                          </a:solidFill>
                          <a:latin typeface="Arial"/>
                        </a:rPr>
                        <a:t>43%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46%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Ремонт подвески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15%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DC2626"/>
                          </a:solidFill>
                          <a:latin typeface="Arial"/>
                        </a:rPr>
                        <a:t>74%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13%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Ремонт подвески: доля 15%, потеря по рангу 74% — кампания почти не показывается. СТО — Общая: 59% по рангу при лучшей цене конверсии.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КАЧЕСТВО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13385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4171C"/>
                </a:solidFill>
                <a:latin typeface="Arial"/>
              </a:rPr>
              <a:t>Объявления сильные, посадочная тянет вниз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87552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ДАСТО — СТО · 20–28.10.2026 · в аккаунте ничего не менял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274552" cy="12700"/>
          </a:xfrm>
          <a:prstGeom prst="rect">
            <a:avLst/>
          </a:prstGeom>
          <a:solidFill>
            <a:srgbClr val="E5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2152497" cy="86868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9525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581912"/>
            <a:ext cx="187817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DC2626"/>
                </a:solidFill>
                <a:latin typeface="Arial"/>
              </a:rPr>
              <a:t>114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993392"/>
            <a:ext cx="1878177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ключей с посадочной ниже среднего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37713" y="1463040"/>
            <a:ext cx="2152497" cy="86868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9525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4017" y="1581912"/>
            <a:ext cx="187817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DC2626"/>
                </a:solidFill>
                <a:latin typeface="Arial"/>
              </a:rPr>
              <a:t>$182.00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4017" y="1993392"/>
            <a:ext cx="1878177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расход на них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18227" y="1463040"/>
            <a:ext cx="2152497" cy="86868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9525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4531" y="1581912"/>
            <a:ext cx="187817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DC2626"/>
                </a:solidFill>
                <a:latin typeface="Arial"/>
              </a:rPr>
              <a:t>83%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4531" y="1993392"/>
            <a:ext cx="1878177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от расхода на ключи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98740" y="1463040"/>
            <a:ext cx="2152497" cy="86868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9525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45044" y="1581912"/>
            <a:ext cx="187817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14171C"/>
                </a:solidFill>
                <a:latin typeface="Arial"/>
              </a:rPr>
              <a:t>5.88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5044" y="1993392"/>
            <a:ext cx="1878177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средний показатель качества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79254" y="1463040"/>
            <a:ext cx="2152497" cy="86868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9525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25558" y="1581912"/>
            <a:ext cx="187817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059669"/>
                </a:solidFill>
                <a:latin typeface="Arial"/>
              </a:rPr>
              <a:t>97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5558" y="1993392"/>
            <a:ext cx="1878177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объявлений выше среднего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457200" y="2514600"/>
          <a:ext cx="11274552" cy="2103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457200" y="4800600"/>
            <a:ext cx="11274552" cy="1691640"/>
          </a:xfrm>
          <a:prstGeom prst="roundRect">
            <a:avLst>
              <a:gd name="adj" fmla="val 5000"/>
            </a:avLst>
          </a:prstGeom>
          <a:solidFill>
            <a:srgbClr val="FDF2F2"/>
          </a:solidFill>
          <a:ln w="9525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800600"/>
            <a:ext cx="38100" cy="16916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901184"/>
            <a:ext cx="109087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171C"/>
                </a:solidFill>
                <a:latin typeface="Arial"/>
              </a:rPr>
              <a:t>Что показывает разбивка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84648"/>
            <a:ext cx="1090879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14171C"/>
                </a:solidFill>
                <a:latin typeface="Arial"/>
              </a:rPr>
              <a:t/>
            </a:r>
            <a:r>
              <a:rPr sz="1000">
                <a:solidFill>
                  <a:srgbClr val="14171C"/>
                </a:solidFill>
                <a:latin typeface="Arial"/>
              </a:rPr>
              <a:t>•  Объявления: выше среднего у 97 ключей, ниже среднего всего у 3. Тексты работают.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14171C"/>
                </a:solidFill>
                <a:latin typeface="Arial"/>
              </a:rPr>
              <a:t>•  Ожидаемый CTR: выше среднего у 77 ключей. Люди кликают.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14171C"/>
                </a:solidFill>
                <a:latin typeface="Arial"/>
              </a:rPr>
              <a:t>•  Посадочная: ниже среднего у 114 ключей, выше среднего — ни у одного. На эти ключи ушло $182.00.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14171C"/>
                </a:solidFill>
                <a:latin typeface="Arial"/>
              </a:rPr>
              <a:t>•  Это и есть причина потерь по рангу. Поднять ставку можно, но за ту же позицию придётся платить больше, пока страница слабее конкурентов.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КЛЮЧ → ЗАПРОС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13385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4171C"/>
                </a:solidFill>
                <a:latin typeface="Arial"/>
              </a:rPr>
              <a:t>Какие ключи работают пылесосом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87552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ДАСТО — СТО · 20–28.10.2026 · в аккаунте ничего не менял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274552" cy="12700"/>
          </a:xfrm>
          <a:prstGeom prst="rect">
            <a:avLst/>
          </a:prstGeom>
          <a:solidFill>
            <a:srgbClr val="E5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74547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6987"/>
                <a:gridCol w="2175790"/>
                <a:gridCol w="1483493"/>
                <a:gridCol w="988995"/>
                <a:gridCol w="1186794"/>
                <a:gridCol w="1186794"/>
                <a:gridCol w="1285694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Ключ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Кампания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Запросов ловит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Клики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Расход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Конверсии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Цена конв.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автосервис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СТО - Общая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DC2626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$2.89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$2.89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развал схождение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Развал-схождение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DC2626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$2.61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$2.61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автосервис в минске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СТО - Общая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DC2626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$0.71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DC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автосервис минск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СТО - Общая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DC2626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$0.78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DC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сто минск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СТО - Общая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DC2626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$1.47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DC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настройка фар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Регулировка фар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DC2626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$1.49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DC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регулировка фар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Регулировка фар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DC2626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$4.87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$1.63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сто peugeot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СТО - По маркам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DC2626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$1.66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DC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сто bmw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СТО - По маркам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DC2626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$1.15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$1.15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сто минска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СТО - Общая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$0.00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DC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сход развал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Развал-схождение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$2.58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$1.29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сто вольво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СТО - По маркам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$0.70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DC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4171C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5394960"/>
            <a:ext cx="11274552" cy="118872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9525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38100" cy="1188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495544"/>
            <a:ext cx="109087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171C"/>
                </a:solidFill>
                <a:latin typeface="Arial"/>
              </a:rPr>
              <a:t>Широкие ключи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779008"/>
            <a:ext cx="1090879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14171C"/>
                </a:solidFill>
                <a:latin typeface="Arial"/>
              </a:rPr>
              <a:t/>
            </a:r>
            <a:r>
              <a:rPr sz="1000">
                <a:solidFill>
                  <a:srgbClr val="14171C"/>
                </a:solidFill>
                <a:latin typeface="Arial"/>
              </a:rPr>
              <a:t>•  «автосервис» в СТО — Общей собрал 109 разных запросов за $2,89 и дал 1 конверсию. «развал схождение» — 33 запроса, 1 конверсия. «сто peugeot» — 17 запросов, ноль.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14171C"/>
                </a:solidFill>
                <a:latin typeface="Arial"/>
              </a:rPr>
              <a:t>•  Это не ошибка: широкий ключ нужен, чтобы находить новые формулировки. Но раз в неделю его улов надо разбирать — удачные запросы выносить в отдельные ключи, неудачные в минус.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ПЕРЕСЕЧЕНИЯ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13385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4171C"/>
                </a:solidFill>
                <a:latin typeface="Arial"/>
              </a:rPr>
              <a:t>Один запрос ловят две группы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87552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ДАСТО — СТО · 20–28.10.2026 · в аккаунте ничего не менял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274552" cy="12700"/>
          </a:xfrm>
          <a:prstGeom prst="rect">
            <a:avLst/>
          </a:prstGeom>
          <a:solidFill>
            <a:srgbClr val="E5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3672840" cy="86868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9525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581912"/>
            <a:ext cx="3398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14171C"/>
                </a:solidFill>
                <a:latin typeface="Arial"/>
              </a:rPr>
              <a:t>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993392"/>
            <a:ext cx="3398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запросов ловят разные группы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8056" y="1463040"/>
            <a:ext cx="3672840" cy="86868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9525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4360" y="1581912"/>
            <a:ext cx="3398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14171C"/>
                </a:solidFill>
                <a:latin typeface="Arial"/>
              </a:rPr>
              <a:t>$28.72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4360" y="1993392"/>
            <a:ext cx="3398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их суммарный расход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8911" y="1463040"/>
            <a:ext cx="3672840" cy="86868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9525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5215" y="1581912"/>
            <a:ext cx="3398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14171C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5215" y="1993392"/>
            <a:ext cx="3398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группы в «Регулировке фар»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57200" y="2651760"/>
          <a:ext cx="11274550" cy="3735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4926"/>
                <a:gridCol w="1970310"/>
                <a:gridCol w="2627080"/>
                <a:gridCol w="1094616"/>
                <a:gridCol w="1204078"/>
                <a:gridCol w="1313540"/>
              </a:tblGrid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Запрос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Группа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Ключ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Клики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Расход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Конверсии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регулировка фар минск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Регулировка фар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регулировка фар минск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$14.84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059669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Настройка фар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коррекция фар минск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$0.90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6B728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регулировка света фар минск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Регулировка фар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регулировка света фар ми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$1.50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059669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Настройка фар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коррекция фар минск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$0.00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6B728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развал схождение поблизости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Развал-схождение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развал схождение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$0.73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6B728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Сход-развал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сход развал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$0.49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6B728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регулировка света фар в минске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Настройка фар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корректировка фар минск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$0.77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6B728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Регулировка фар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регулировка фар минск це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$0.41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6B728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автосервис пежо минск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Peugeot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сто пежо минск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$1.03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059669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Автосервис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автосервис в минске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$0.00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6B728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регулировка фар рядом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Настройка фар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настройка фар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$0.88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6B728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Регулировка фар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регулировка фар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$0.00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6B728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корея сервис минск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Группы марок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ремонт корейских авто ми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$0.40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6B728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Автосервис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автосервис минск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$0.39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6B728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отрегулировать фары минск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Регулировка фар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регулировка света фар ми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$0.44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6B728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Настройка фар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корректировка фар минск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$0.23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6B728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сто регулировка фар минск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Настройка фар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коррекция фар минск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$0.44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6B728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Регулировка фар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регулировка фар минск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$0.21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6B728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457200" y="6400800"/>
            <a:ext cx="11274552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6400800"/>
            <a:ext cx="38100" cy="3657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501384"/>
            <a:ext cx="109087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171C"/>
                </a:solidFill>
                <a:latin typeface="Arial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784848"/>
            <a:ext cx="10908792" cy="-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71C"/>
                </a:solidFill>
                <a:latin typeface="Arial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Главный пример: «регулировка фар минск» ловится обеими группами. В «Регулировке фар» — 39 кликов и 8 конверсий, в «Настройке фар» — 2 клика и ноль.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КЛЮЧИ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13385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4171C"/>
                </a:solidFill>
                <a:latin typeface="Arial"/>
              </a:rPr>
              <a:t>68 ключей потратили и не дали ни одной заявки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87552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ДАСТО — СТО · 20–28.10.2026 · в аккаунте ничего не менял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274552" cy="12700"/>
          </a:xfrm>
          <a:prstGeom prst="rect">
            <a:avLst/>
          </a:prstGeom>
          <a:solidFill>
            <a:srgbClr val="E5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2722626" cy="86868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9525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581912"/>
            <a:ext cx="244830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DC2626"/>
                </a:solidFill>
                <a:latin typeface="Arial"/>
              </a:rPr>
              <a:t>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993392"/>
            <a:ext cx="244830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ключей без заявок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07842" y="1463040"/>
            <a:ext cx="2722626" cy="86868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9525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4146" y="1581912"/>
            <a:ext cx="244830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DC2626"/>
                </a:solidFill>
                <a:latin typeface="Arial"/>
              </a:rPr>
              <a:t>$62.31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4146" y="1993392"/>
            <a:ext cx="244830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их расход за 9 дней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8484" y="1463040"/>
            <a:ext cx="2722626" cy="86868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9525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4788" y="1581912"/>
            <a:ext cx="244830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DC2626"/>
                </a:solidFill>
                <a:latin typeface="Arial"/>
              </a:rPr>
              <a:t>28%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4788" y="1993392"/>
            <a:ext cx="244830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от расхода на ключи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9126" y="1463040"/>
            <a:ext cx="2722626" cy="86868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9525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55430" y="1581912"/>
            <a:ext cx="244830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14171C"/>
                </a:solidFill>
                <a:latin typeface="Arial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55430" y="1993392"/>
            <a:ext cx="244830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из них с 4+ кликами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2514600"/>
          <a:ext cx="11274549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1828"/>
                <a:gridCol w="2528871"/>
                <a:gridCol w="1053696"/>
                <a:gridCol w="1264435"/>
                <a:gridCol w="1369805"/>
                <a:gridCol w="1685914"/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Ключ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Кампания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Клики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Расход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Качество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Посадочная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настройка фар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Регулировка фар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$6.12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ниже среднего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сто хонда минск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СТО - По маркам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$2.73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ниже среднего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сто renault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СТО - По маркам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$2.63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ниже среднего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сто вольво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СТО - По маркам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$2.29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DC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ниже среднего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сто mercedes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СТО - По маркам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$1.84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корректировка фар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Регулировка фар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$1.77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автосервис минск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СТО - Общая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$1.74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DC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ниже среднего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рено сервис минск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СТО - По маркам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$1.59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ниже среднего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хорошее сто минск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СТО - Общая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$1.41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ремонт корейских авто минск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СТО - По маркам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$1.41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ниже среднего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проточка тормозных дисков минск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Проточка тормозных д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$1.37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ниже среднего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сто форд минск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СТО - По маркам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$1.29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ниже среднего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ремонт шевроле минск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СТО - По маркам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$1.24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ниже среднего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развал схождение цена минск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Развал-схождение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$1.23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DC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ниже среднего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594360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Порог — любой расход за 20–28 октября. Больше всех потратил «настройка фар»: $6,12 и 15 кликов без единой заявки, при том что соседний «регулировка фар минск» дал 8 заявок.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МИНУС-СЛОВА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13385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4171C"/>
                </a:solidFill>
                <a:latin typeface="Arial"/>
              </a:rPr>
              <a:t>Добавлять почти нечего — и это важно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87552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ДАСТО — СТО · 20–28.10.2026 · в аккаунте ничего не менял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274552" cy="12700"/>
          </a:xfrm>
          <a:prstGeom prst="rect">
            <a:avLst/>
          </a:prstGeom>
          <a:solidFill>
            <a:srgbClr val="E5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2722626" cy="86868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9525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581912"/>
            <a:ext cx="244830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14171C"/>
                </a:solidFill>
                <a:latin typeface="Arial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993392"/>
            <a:ext cx="244830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запросов без заявок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07842" y="1463040"/>
            <a:ext cx="2722626" cy="86868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9525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4146" y="1581912"/>
            <a:ext cx="244830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14171C"/>
                </a:solidFill>
                <a:latin typeface="Arial"/>
              </a:rPr>
              <a:t>$29.25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4146" y="1993392"/>
            <a:ext cx="244830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их расход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8484" y="1463040"/>
            <a:ext cx="2722626" cy="86868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9525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4788" y="1581912"/>
            <a:ext cx="244830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14171C"/>
                </a:solidFill>
                <a:latin typeface="Arial"/>
              </a:rPr>
              <a:t>27%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4788" y="1993392"/>
            <a:ext cx="244830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от расхода на запросы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9126" y="1463040"/>
            <a:ext cx="2722626" cy="86868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9525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55430" y="1581912"/>
            <a:ext cx="244830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059669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55430" y="1993392"/>
            <a:ext cx="244830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паттерна для минусовки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2514600"/>
          <a:ext cx="5486398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645458"/>
                <a:gridCol w="806823"/>
                <a:gridCol w="1290917"/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Запрос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Клики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Расход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6B7280"/>
                          </a:solidFill>
                          <a:latin typeface="Arial"/>
                        </a:rPr>
                        <a:t>Кампания</a:t>
                      </a:r>
                    </a:p>
                  </a:txBody>
                  <a:tcPr marL="54864" marR="54864" marT="0" marB="0" anchor="ctr">
                    <a:solidFill>
                      <a:srgbClr val="F6F8FB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развал схождение поблизости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$1.22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Развал-схождение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регулировка света фар в минске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$1.18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Регулировка фар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honda сервис минск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$1.16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СТО - По маркам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ремонт тойота минск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$1.03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СТО - По маркам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мерседес сервис минск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$0.99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СТО - По маркам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ремонт французских авто минск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$0.98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СТО - По маркам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ремонт hyundai в минске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$0.97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СТО - По маркам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ремонт шевроле в минске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$0.92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СТО - По маркам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проточка тормозных дисков минск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$0.90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Проточка тормозных д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регулировка фар рядом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$0.88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Регулировка фар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регулировка фар минск стоимость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$0.88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Регулировка фар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ремонт мерседес минск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$0.88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СТО - По маркам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ремонт ситроенов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$0.80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4171C"/>
                          </a:solidFill>
                          <a:latin typeface="Arial"/>
                        </a:rPr>
                        <a:t>СТО - По маркам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6245352" y="2514600"/>
            <a:ext cx="5486400" cy="1920240"/>
          </a:xfrm>
          <a:prstGeom prst="roundRect">
            <a:avLst>
              <a:gd name="adj" fmla="val 5000"/>
            </a:avLst>
          </a:prstGeom>
          <a:solidFill>
            <a:srgbClr val="F0FAF5"/>
          </a:solidFill>
          <a:ln w="9525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5352" y="2514600"/>
            <a:ext cx="38100" cy="19202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2615184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171C"/>
                </a:solidFill>
                <a:latin typeface="Arial"/>
              </a:rPr>
              <a:t>Что реально можно минусовать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2898648"/>
            <a:ext cx="512064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14171C"/>
                </a:solidFill>
                <a:latin typeface="Arial"/>
              </a:rPr>
              <a:t/>
            </a:r>
            <a:r>
              <a:rPr sz="1000">
                <a:solidFill>
                  <a:srgbClr val="14171C"/>
                </a:solidFill>
                <a:latin typeface="Arial"/>
              </a:rPr>
              <a:t>•  «рядом» — 1 запрос, $0,88. Человек ищет ближайший сервис, не вас.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14171C"/>
                </a:solidFill>
                <a:latin typeface="Arial"/>
              </a:rPr>
              <a:t>•  «стоимость», «цена» — 2 запроса, $1,38. Спорно: в этих же формулировках есть и конверсии.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14171C"/>
                </a:solidFill>
                <a:latin typeface="Arial"/>
              </a:rPr>
              <a:t>•  Всё. Больше паттернов нет.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5352" y="4572000"/>
            <a:ext cx="5486400" cy="1920240"/>
          </a:xfrm>
          <a:prstGeom prst="roundRect">
            <a:avLst>
              <a:gd name="adj" fmla="val 5000"/>
            </a:avLst>
          </a:prstGeom>
          <a:solidFill>
            <a:srgbClr val="EFF4FE"/>
          </a:solidFill>
          <a:ln w="9525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45352" y="4572000"/>
            <a:ext cx="38100" cy="1920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8232" y="4672584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171C"/>
                </a:solidFill>
                <a:latin typeface="Arial"/>
              </a:rPr>
              <a:t>Почему это хорошая новость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2" y="4956048"/>
            <a:ext cx="512064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14171C"/>
                </a:solidFill>
                <a:latin typeface="Arial"/>
              </a:rPr>
              <a:t/>
            </a:r>
            <a:r>
              <a:rPr sz="1000">
                <a:solidFill>
                  <a:srgbClr val="14171C"/>
                </a:solidFill>
                <a:latin typeface="Arial"/>
              </a:rPr>
              <a:t>•  Остальные 35 запросов — целевые: «ремонт тойота минск», «мерседес сервис минск», «3d развал схождение минск».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14171C"/>
                </a:solidFill>
                <a:latin typeface="Arial"/>
              </a:rPr>
              <a:t>•  Они не дали заявок не потому что мусорные, а потому что человек ушёл с сайта.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14171C"/>
                </a:solidFill>
                <a:latin typeface="Arial"/>
              </a:rPr>
              <a:t>•  Значит проблема не в трафике, а в том, что происходит после клика.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ВЫВОДЫ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13385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4171C"/>
                </a:solidFill>
                <a:latin typeface="Arial"/>
              </a:rPr>
              <a:t>Что показали данные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87552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ДАСТО — СТО · 20–28.10.2026 · в аккаунте ничего не менял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274552" cy="12700"/>
          </a:xfrm>
          <a:prstGeom prst="rect">
            <a:avLst/>
          </a:prstGeom>
          <a:solidFill>
            <a:srgbClr val="E5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11274552" cy="2103120"/>
          </a:xfrm>
          <a:prstGeom prst="roundRect">
            <a:avLst>
              <a:gd name="adj" fmla="val 5000"/>
            </a:avLst>
          </a:prstGeom>
          <a:solidFill>
            <a:srgbClr val="EFF4FE"/>
          </a:solidFill>
          <a:ln w="9525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38100" cy="21031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17904"/>
            <a:ext cx="109087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171C"/>
                </a:solidFill>
                <a:latin typeface="Arial"/>
              </a:rPr>
              <a:t>Три вещи, которые видно только в цифрах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01368"/>
            <a:ext cx="10908792" cy="1600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14171C"/>
                </a:solidFill>
                <a:latin typeface="Arial"/>
              </a:rPr>
              <a:t/>
            </a:r>
            <a:r>
              <a:rPr sz="1000">
                <a:solidFill>
                  <a:srgbClr val="14171C"/>
                </a:solidFill>
                <a:latin typeface="Arial"/>
              </a:rPr>
              <a:t>•  Посадочная ниже среднего у 114 ключей из 120 с оценкой, выше среднего — ни у одного. При этом объявления выше среднего у 97 ключей. Разрыв между рекламой и сайтом — главный ограничитель.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14171C"/>
                </a:solidFill>
                <a:latin typeface="Arial"/>
              </a:rPr>
              <a:t>•  Минусовать нечего: из 38 запросов без заявок целевых 35. Трафик чистый, теряется он уже на сайте.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14171C"/>
                </a:solidFill>
                <a:latin typeface="Arial"/>
              </a:rPr>
              <a:t>•  Снижение целевой цены конверсии ниже $1,70 на Регулировке фар срезало объём вдвое. Повышение бюджета СТО — По маркам до $15 объёма не добавило, цена выросла.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49039"/>
            <a:ext cx="3657600" cy="2651760"/>
          </a:xfrm>
          <a:prstGeom prst="roundRect">
            <a:avLst>
              <a:gd name="adj" fmla="val 5000"/>
            </a:avLst>
          </a:prstGeom>
          <a:solidFill>
            <a:srgbClr val="FDF9F0"/>
          </a:solidFill>
          <a:ln w="9525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749039"/>
            <a:ext cx="38100" cy="2651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849624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171C"/>
                </a:solidFill>
                <a:latin typeface="Arial"/>
              </a:rPr>
              <a:t>Что стоит проверить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33087"/>
            <a:ext cx="3291840" cy="2148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14171C"/>
                </a:solidFill>
                <a:latin typeface="Arial"/>
              </a:rPr>
              <a:t/>
            </a:r>
            <a:r>
              <a:rPr sz="1000">
                <a:solidFill>
                  <a:srgbClr val="14171C"/>
                </a:solidFill>
                <a:latin typeface="Arial"/>
              </a:rPr>
              <a:t>•  Вернуть целевую цену Регулировки на $1,70.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14171C"/>
                </a:solidFill>
                <a:latin typeface="Arial"/>
              </a:rPr>
              <a:t>•  Вернуть бюджет По маркам на $10.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14171C"/>
                </a:solidFill>
                <a:latin typeface="Arial"/>
              </a:rPr>
              <a:t>•  Измерять неделю, не два дня.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1104" y="3749039"/>
            <a:ext cx="3657600" cy="2651760"/>
          </a:xfrm>
          <a:prstGeom prst="roundRect">
            <a:avLst>
              <a:gd name="adj" fmla="val 5000"/>
            </a:avLst>
          </a:prstGeom>
          <a:solidFill>
            <a:srgbClr val="EFF4FE"/>
          </a:solidFill>
          <a:ln w="9525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61104" y="3749039"/>
            <a:ext cx="38100" cy="26517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43984" y="3849624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171C"/>
                </a:solidFill>
                <a:latin typeface="Arial"/>
              </a:rPr>
              <a:t>Что даст больше всего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984" y="4133087"/>
            <a:ext cx="3291840" cy="2148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14171C"/>
                </a:solidFill>
                <a:latin typeface="Arial"/>
              </a:rPr>
              <a:t/>
            </a:r>
            <a:r>
              <a:rPr sz="1000">
                <a:solidFill>
                  <a:srgbClr val="14171C"/>
                </a:solidFill>
                <a:latin typeface="Arial"/>
              </a:rPr>
              <a:t>•  Посадочные страницы.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14171C"/>
                </a:solidFill>
                <a:latin typeface="Arial"/>
              </a:rPr>
              <a:t>•  114 ключей с оценкой ниже среднего.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14171C"/>
                </a:solidFill>
                <a:latin typeface="Arial"/>
              </a:rPr>
              <a:t>•  Это снимет потери по рангу: сейчас от 25% до 74% по кампаниям.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4152" y="3749039"/>
            <a:ext cx="3657600" cy="2651760"/>
          </a:xfrm>
          <a:prstGeom prst="roundRect">
            <a:avLst>
              <a:gd name="adj" fmla="val 5000"/>
            </a:avLst>
          </a:prstGeom>
          <a:solidFill>
            <a:srgbClr val="FDF2F2"/>
          </a:solidFill>
          <a:ln w="9525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74152" y="3749039"/>
            <a:ext cx="38100" cy="26517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7031" y="3849624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171C"/>
                </a:solidFill>
                <a:latin typeface="Arial"/>
              </a:rPr>
              <a:t>Чего не делать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4133087"/>
            <a:ext cx="3291840" cy="2148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14171C"/>
                </a:solidFill>
                <a:latin typeface="Arial"/>
              </a:rPr>
              <a:t/>
            </a:r>
            <a:r>
              <a:rPr sz="1000">
                <a:solidFill>
                  <a:srgbClr val="14171C"/>
                </a:solidFill>
                <a:latin typeface="Arial"/>
              </a:rPr>
              <a:t>•  Не включать и не выключать кампании руками: 42 переключения за 9 дней мешают стратегии.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14171C"/>
                </a:solidFill>
                <a:latin typeface="Arial"/>
              </a:rPr>
              <a:t>•  Не искать мусор в запросах — его там нет.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Arial"/>
              </a:rPr>
              <a:t>ДАННЫЕ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13385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4171C"/>
                </a:solidFill>
                <a:latin typeface="Arial"/>
              </a:rPr>
              <a:t>Что учтено и чего в цифрах нет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87552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ДАСТО — СТО · 20–28.10.2026 · в аккаунте ничего не менял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274552" cy="12700"/>
          </a:xfrm>
          <a:prstGeom prst="rect">
            <a:avLst/>
          </a:prstGeom>
          <a:solidFill>
            <a:srgbClr val="E5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11274552" cy="237744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9525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38100" cy="2377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17904"/>
            <a:ext cx="109087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171C"/>
                </a:solidFill>
                <a:latin typeface="Arial"/>
              </a:rPr>
              <a:t>Границы выборки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01368"/>
            <a:ext cx="10908792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14171C"/>
                </a:solidFill>
                <a:latin typeface="Arial"/>
              </a:rPr>
              <a:t/>
            </a:r>
            <a:r>
              <a:rPr sz="1000">
                <a:solidFill>
                  <a:srgbClr val="14171C"/>
                </a:solidFill>
                <a:latin typeface="Arial"/>
              </a:rPr>
              <a:t>•  Период 20–28 октября. Данных за 29-е ещё нет. «Эта неделя» — это два дня, 27 и 28.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14171C"/>
                </a:solidFill>
                <a:latin typeface="Arial"/>
              </a:rPr>
              <a:t>•  28 октября неполное: расход $21 против обычных $30–35.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14171C"/>
                </a:solidFill>
                <a:latin typeface="Arial"/>
              </a:rPr>
              <a:t>•  Конверсия = клик по номеру или мессенджеру на сайте. Это не звонок: часть кликов звонком не заканчивается.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14171C"/>
                </a:solidFill>
                <a:latin typeface="Arial"/>
              </a:rPr>
              <a:t>•  Эффект каждой правки измерен на 1–2 днях. Это направление, а не доказательство.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14171C"/>
                </a:solidFill>
                <a:latin typeface="Arial"/>
              </a:rPr>
              <a:t>•  Показатель качества есть не у всех ключей: у 45 из 165 данных нет.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77639"/>
            <a:ext cx="11274552" cy="2194560"/>
          </a:xfrm>
          <a:prstGeom prst="roundRect">
            <a:avLst>
              <a:gd name="adj" fmla="val 5000"/>
            </a:avLst>
          </a:prstGeom>
          <a:solidFill>
            <a:srgbClr val="FDF9F0"/>
          </a:solidFill>
          <a:ln w="9525">
            <a:solidFill>
              <a:srgbClr val="E5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977639"/>
            <a:ext cx="38100" cy="21945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078224"/>
            <a:ext cx="109087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4171C"/>
                </a:solidFill>
                <a:latin typeface="Arial"/>
              </a:rPr>
              <a:t>Чего в отчёте нет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61688"/>
            <a:ext cx="10908792" cy="1691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14171C"/>
                </a:solidFill>
                <a:latin typeface="Arial"/>
              </a:rPr>
              <a:t/>
            </a:r>
            <a:r>
              <a:rPr sz="1000">
                <a:solidFill>
                  <a:srgbClr val="14171C"/>
                </a:solidFill>
                <a:latin typeface="Arial"/>
              </a:rPr>
              <a:t>•  Статистики аукциона по конкурентам — Google не отдаёт её через API, только в интерфейсе.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14171C"/>
                </a:solidFill>
                <a:latin typeface="Arial"/>
              </a:rPr>
              <a:t>•  Данных о доезде: сколько из заявок стали клиентами. Без этого цена конверсии — не цена клиента.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14171C"/>
                </a:solidFill>
                <a:latin typeface="Arial"/>
              </a:rPr>
              <a:t>•  Среднего чека по кампаниям. С ним можно было бы считать не цену заявки, а выручку на вложенный доллар.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